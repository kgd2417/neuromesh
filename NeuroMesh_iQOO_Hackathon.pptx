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B14"/>
        </a:solidFill>
        <a:effectLst/>
      </p:bgPr>
    </p:bg>
    <p:spTree>
      <p:nvGrpSpPr>
        <p:cNvPr id="1" name=""/>
        <p:cNvGrpSpPr/>
        <p:nvPr/>
      </p:nvGrpSpPr>
      <p:grpSpPr/>
      <p:sp>
        <p:nvSpPr>
          <p:cNvPr id="2" name="TextBox 1"/>
          <p:cNvSpPr txBox="1"/>
          <p:nvPr/>
        </p:nvSpPr>
        <p:spPr>
          <a:xfrm>
            <a:off x="502920" y="310896"/>
            <a:ext cx="11185855" cy="219456"/>
          </a:xfrm>
          <a:prstGeom prst="rect">
            <a:avLst/>
          </a:prstGeom>
          <a:noFill/>
        </p:spPr>
        <p:txBody>
          <a:bodyPr wrap="square" anchor="t" lIns="0" rIns="0" tIns="0" bIns="0">
            <a:spAutoFit/>
          </a:bodyPr>
          <a:lstStyle/>
          <a:p>
            <a:pPr algn="l">
              <a:spcAft>
                <a:spcPts val="0"/>
              </a:spcAft>
            </a:pPr>
            <a:r>
              <a:rPr sz="900" b="0" spc="160">
                <a:solidFill>
                  <a:srgbClr val="8B95B3"/>
                </a:solidFill>
                <a:latin typeface="Consolas"/>
              </a:rPr>
              <a:t>01 / 06     PROBLEM &amp; IDEA</a:t>
            </a:r>
          </a:p>
        </p:txBody>
      </p:sp>
      <p:sp>
        <p:nvSpPr>
          <p:cNvPr id="3" name="Rectangle 2"/>
          <p:cNvSpPr/>
          <p:nvPr/>
        </p:nvSpPr>
        <p:spPr>
          <a:xfrm>
            <a:off x="502920" y="576072"/>
            <a:ext cx="11185855" cy="10972"/>
          </a:xfrm>
          <a:prstGeom prst="rect">
            <a:avLst/>
          </a:prstGeom>
          <a:solidFill>
            <a:srgbClr val="26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749808"/>
            <a:ext cx="11185855" cy="914400"/>
          </a:xfrm>
          <a:prstGeom prst="rect">
            <a:avLst/>
          </a:prstGeom>
          <a:noFill/>
        </p:spPr>
        <p:txBody>
          <a:bodyPr wrap="square" anchor="t" lIns="0" rIns="0" tIns="0" bIns="0">
            <a:spAutoFit/>
          </a:bodyPr>
          <a:lstStyle/>
          <a:p>
            <a:pPr algn="l">
              <a:lnSpc>
                <a:spcPct val="95000"/>
              </a:lnSpc>
              <a:spcAft>
                <a:spcPts val="0"/>
              </a:spcAft>
            </a:pPr>
            <a:r>
              <a:rPr sz="3400" b="1">
                <a:solidFill>
                  <a:srgbClr val="E9EDF7"/>
                </a:solidFill>
                <a:latin typeface="Segoe UI Semibold"/>
              </a:rPr>
              <a:t>Your phone has an AI chip.
Every night, it does nothing.</a:t>
            </a:r>
          </a:p>
        </p:txBody>
      </p:sp>
      <p:sp>
        <p:nvSpPr>
          <p:cNvPr id="5" name="Rectangle 4"/>
          <p:cNvSpPr/>
          <p:nvPr/>
        </p:nvSpPr>
        <p:spPr>
          <a:xfrm>
            <a:off x="502920" y="2103120"/>
            <a:ext cx="2926080" cy="20116"/>
          </a:xfrm>
          <a:prstGeom prst="rect">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304288"/>
            <a:ext cx="8595360" cy="1188720"/>
          </a:xfrm>
          <a:prstGeom prst="rect">
            <a:avLst/>
          </a:prstGeom>
          <a:noFill/>
        </p:spPr>
        <p:txBody>
          <a:bodyPr wrap="square" anchor="t" lIns="0" rIns="0" tIns="0" bIns="0">
            <a:spAutoFit/>
          </a:bodyPr>
          <a:lstStyle/>
          <a:p>
            <a:pPr algn="l">
              <a:lnSpc>
                <a:spcPct val="132000"/>
              </a:lnSpc>
              <a:spcAft>
                <a:spcPts val="900"/>
              </a:spcAft>
            </a:pPr>
            <a:r>
              <a:rPr sz="1100" b="0">
                <a:solidFill>
                  <a:srgbClr val="8B95B3"/>
                </a:solidFill>
                <a:latin typeface="Segoe UI"/>
              </a:rPr>
              <a:t>Modern phones carry a dedicated AI chip — an NPU — capable of roughly 40 trillion operations per second. From the moment you plug the phone in and go to sleep, that chip sits completely idle for eight hours.</a:t>
            </a:r>
          </a:p>
          <a:p>
            <a:pPr algn="l">
              <a:lnSpc>
                <a:spcPct val="132000"/>
              </a:lnSpc>
              <a:spcAft>
                <a:spcPts val="0"/>
              </a:spcAft>
            </a:pPr>
            <a:r>
              <a:rPr sz="1100" b="0">
                <a:solidFill>
                  <a:srgbClr val="E9EDF7"/>
                </a:solidFill>
                <a:latin typeface="Segoe UI"/>
              </a:rPr>
              <a:t>NeuroMesh rents out those idle hours. Phone owners earn credits overnight. Developers get a big batch of AI work done by borrowing many phones at once, instead of renting an expensive server.</a:t>
            </a:r>
          </a:p>
        </p:txBody>
      </p:sp>
      <p:sp>
        <p:nvSpPr>
          <p:cNvPr id="7" name="Rounded Rectangle 6"/>
          <p:cNvSpPr/>
          <p:nvPr/>
        </p:nvSpPr>
        <p:spPr>
          <a:xfrm>
            <a:off x="502920" y="3611880"/>
            <a:ext cx="3576218" cy="2240280"/>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49224" y="3758184"/>
            <a:ext cx="3283610" cy="164592"/>
          </a:xfrm>
          <a:prstGeom prst="rect">
            <a:avLst/>
          </a:prstGeom>
          <a:noFill/>
        </p:spPr>
        <p:txBody>
          <a:bodyPr wrap="square" anchor="t" lIns="0" rIns="0" tIns="0" bIns="0">
            <a:spAutoFit/>
          </a:bodyPr>
          <a:lstStyle/>
          <a:p>
            <a:pPr algn="l">
              <a:spcAft>
                <a:spcPts val="0"/>
              </a:spcAft>
            </a:pPr>
            <a:r>
              <a:rPr sz="750" b="0" spc="130">
                <a:solidFill>
                  <a:srgbClr val="8B95B3"/>
                </a:solidFill>
                <a:latin typeface="Consolas"/>
              </a:rPr>
              <a:t>PROBLEM · THE PHONE OWNER</a:t>
            </a:r>
          </a:p>
        </p:txBody>
      </p:sp>
      <p:sp>
        <p:nvSpPr>
          <p:cNvPr id="9" name="TextBox 8"/>
          <p:cNvSpPr txBox="1"/>
          <p:nvPr/>
        </p:nvSpPr>
        <p:spPr>
          <a:xfrm>
            <a:off x="649224" y="3995928"/>
            <a:ext cx="3283610" cy="438912"/>
          </a:xfrm>
          <a:prstGeom prst="rect">
            <a:avLst/>
          </a:prstGeom>
          <a:noFill/>
        </p:spPr>
        <p:txBody>
          <a:bodyPr wrap="square" anchor="t" lIns="0" rIns="0" tIns="0" bIns="0">
            <a:spAutoFit/>
          </a:bodyPr>
          <a:lstStyle/>
          <a:p>
            <a:pPr algn="l">
              <a:lnSpc>
                <a:spcPct val="105000"/>
              </a:lnSpc>
              <a:spcAft>
                <a:spcPts val="0"/>
              </a:spcAft>
            </a:pPr>
            <a:r>
              <a:rPr sz="1150" b="1">
                <a:solidFill>
                  <a:srgbClr val="E9EDF7"/>
                </a:solidFill>
                <a:latin typeface="Segoe UI Semibold"/>
              </a:rPr>
              <a:t>An expensive chip that earns nothing</a:t>
            </a:r>
          </a:p>
        </p:txBody>
      </p:sp>
      <p:sp>
        <p:nvSpPr>
          <p:cNvPr id="10" name="TextBox 9"/>
          <p:cNvSpPr txBox="1"/>
          <p:nvPr/>
        </p:nvSpPr>
        <p:spPr>
          <a:xfrm>
            <a:off x="649224" y="4471416"/>
            <a:ext cx="3283610" cy="621792"/>
          </a:xfrm>
          <a:prstGeom prst="rect">
            <a:avLst/>
          </a:prstGeom>
          <a:noFill/>
        </p:spPr>
        <p:txBody>
          <a:bodyPr wrap="square" anchor="t" lIns="0" rIns="0" tIns="0" bIns="0">
            <a:spAutoFit/>
          </a:bodyPr>
          <a:lstStyle/>
          <a:p>
            <a:pPr algn="l">
              <a:lnSpc>
                <a:spcPct val="122000"/>
              </a:lnSpc>
              <a:spcAft>
                <a:spcPts val="0"/>
              </a:spcAft>
            </a:pPr>
            <a:r>
              <a:rPr sz="900" b="0">
                <a:solidFill>
                  <a:srgbClr val="8B95B3"/>
                </a:solidFill>
                <a:latin typeface="Segoe UI"/>
              </a:rPr>
              <a:t>Every flagship ships an NPU that sits dark from midnight to morning — charging, on Wi-Fi, screen off, cool. The most abundant idle AI chip on earth, and no way to make a single rupee from it.</a:t>
            </a:r>
          </a:p>
        </p:txBody>
      </p:sp>
      <p:sp>
        <p:nvSpPr>
          <p:cNvPr id="11" name="Rectangle 10"/>
          <p:cNvSpPr/>
          <p:nvPr/>
        </p:nvSpPr>
        <p:spPr>
          <a:xfrm>
            <a:off x="649224" y="5321808"/>
            <a:ext cx="20116" cy="365760"/>
          </a:xfrm>
          <a:prstGeom prst="rect">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5321808"/>
            <a:ext cx="3183026" cy="365760"/>
          </a:xfrm>
          <a:prstGeom prst="rect">
            <a:avLst/>
          </a:prstGeom>
          <a:noFill/>
        </p:spPr>
        <p:txBody>
          <a:bodyPr wrap="square" anchor="t" lIns="0" rIns="0" tIns="0" bIns="0">
            <a:spAutoFit/>
          </a:bodyPr>
          <a:lstStyle/>
          <a:p>
            <a:pPr algn="l">
              <a:spcAft>
                <a:spcPts val="100"/>
              </a:spcAft>
            </a:pPr>
            <a:r>
              <a:rPr sz="650" b="1" spc="130">
                <a:solidFill>
                  <a:srgbClr val="4FE0BC"/>
                </a:solidFill>
                <a:latin typeface="Consolas"/>
              </a:rPr>
              <a:t>PLAINLY</a:t>
            </a:r>
          </a:p>
          <a:p>
            <a:pPr algn="l">
              <a:lnSpc>
                <a:spcPct val="118000"/>
              </a:lnSpc>
              <a:spcAft>
                <a:spcPts val="0"/>
              </a:spcAft>
            </a:pPr>
            <a:r>
              <a:rPr sz="850" b="0">
                <a:solidFill>
                  <a:srgbClr val="E9EDF7"/>
                </a:solidFill>
                <a:latin typeface="Segoe UI"/>
              </a:rPr>
              <a:t>You already paid for the chip. It earns you nothing while you sleep.</a:t>
            </a:r>
          </a:p>
        </p:txBody>
      </p:sp>
      <p:sp>
        <p:nvSpPr>
          <p:cNvPr id="13" name="Rounded Rectangle 12"/>
          <p:cNvSpPr/>
          <p:nvPr/>
        </p:nvSpPr>
        <p:spPr>
          <a:xfrm>
            <a:off x="4307738" y="3611880"/>
            <a:ext cx="3576218" cy="2240280"/>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454042" y="3758184"/>
            <a:ext cx="3283610" cy="164592"/>
          </a:xfrm>
          <a:prstGeom prst="rect">
            <a:avLst/>
          </a:prstGeom>
          <a:noFill/>
        </p:spPr>
        <p:txBody>
          <a:bodyPr wrap="square" anchor="t" lIns="0" rIns="0" tIns="0" bIns="0">
            <a:spAutoFit/>
          </a:bodyPr>
          <a:lstStyle/>
          <a:p>
            <a:pPr algn="l">
              <a:spcAft>
                <a:spcPts val="0"/>
              </a:spcAft>
            </a:pPr>
            <a:r>
              <a:rPr sz="750" b="0" spc="130">
                <a:solidFill>
                  <a:srgbClr val="8B95B3"/>
                </a:solidFill>
                <a:latin typeface="Consolas"/>
              </a:rPr>
              <a:t>PROBLEM · THE DEVELOPER</a:t>
            </a:r>
          </a:p>
        </p:txBody>
      </p:sp>
      <p:sp>
        <p:nvSpPr>
          <p:cNvPr id="15" name="TextBox 14"/>
          <p:cNvSpPr txBox="1"/>
          <p:nvPr/>
        </p:nvSpPr>
        <p:spPr>
          <a:xfrm>
            <a:off x="4454042" y="3995928"/>
            <a:ext cx="3283610" cy="438912"/>
          </a:xfrm>
          <a:prstGeom prst="rect">
            <a:avLst/>
          </a:prstGeom>
          <a:noFill/>
        </p:spPr>
        <p:txBody>
          <a:bodyPr wrap="square" anchor="t" lIns="0" rIns="0" tIns="0" bIns="0">
            <a:spAutoFit/>
          </a:bodyPr>
          <a:lstStyle/>
          <a:p>
            <a:pPr algn="l">
              <a:lnSpc>
                <a:spcPct val="105000"/>
              </a:lnSpc>
              <a:spcAft>
                <a:spcPts val="0"/>
              </a:spcAft>
            </a:pPr>
            <a:r>
              <a:rPr sz="1150" b="1">
                <a:solidFill>
                  <a:srgbClr val="E9EDF7"/>
                </a:solidFill>
                <a:latin typeface="Segoe UI Semibold"/>
              </a:rPr>
              <a:t>Simple bulk work, priced like heavy work</a:t>
            </a:r>
          </a:p>
        </p:txBody>
      </p:sp>
      <p:sp>
        <p:nvSpPr>
          <p:cNvPr id="16" name="TextBox 15"/>
          <p:cNvSpPr txBox="1"/>
          <p:nvPr/>
        </p:nvSpPr>
        <p:spPr>
          <a:xfrm>
            <a:off x="4454042" y="4471416"/>
            <a:ext cx="3283610" cy="621792"/>
          </a:xfrm>
          <a:prstGeom prst="rect">
            <a:avLst/>
          </a:prstGeom>
          <a:noFill/>
        </p:spPr>
        <p:txBody>
          <a:bodyPr wrap="square" anchor="t" lIns="0" rIns="0" tIns="0" bIns="0">
            <a:spAutoFit/>
          </a:bodyPr>
          <a:lstStyle/>
          <a:p>
            <a:pPr algn="l">
              <a:lnSpc>
                <a:spcPct val="122000"/>
              </a:lnSpc>
              <a:spcAft>
                <a:spcPts val="0"/>
              </a:spcAft>
            </a:pPr>
            <a:r>
              <a:rPr sz="900" b="0">
                <a:solidFill>
                  <a:srgbClr val="8B95B3"/>
                </a:solidFill>
                <a:latin typeface="Segoe UI"/>
              </a:rPr>
              <a:t>A developer processing two million documents does not need a top-end AI server. They need throughput. They rent a scarce, costly GPU anyway, because nothing cheaper will take the job.</a:t>
            </a:r>
          </a:p>
        </p:txBody>
      </p:sp>
      <p:sp>
        <p:nvSpPr>
          <p:cNvPr id="17" name="Rectangle 16"/>
          <p:cNvSpPr/>
          <p:nvPr/>
        </p:nvSpPr>
        <p:spPr>
          <a:xfrm>
            <a:off x="4454042" y="5321808"/>
            <a:ext cx="20116" cy="365760"/>
          </a:xfrm>
          <a:prstGeom prst="rect">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54626" y="5321808"/>
            <a:ext cx="3183026" cy="365760"/>
          </a:xfrm>
          <a:prstGeom prst="rect">
            <a:avLst/>
          </a:prstGeom>
          <a:noFill/>
        </p:spPr>
        <p:txBody>
          <a:bodyPr wrap="square" anchor="t" lIns="0" rIns="0" tIns="0" bIns="0">
            <a:spAutoFit/>
          </a:bodyPr>
          <a:lstStyle/>
          <a:p>
            <a:pPr algn="l">
              <a:spcAft>
                <a:spcPts val="100"/>
              </a:spcAft>
            </a:pPr>
            <a:r>
              <a:rPr sz="650" b="1" spc="130">
                <a:solidFill>
                  <a:srgbClr val="4FE0BC"/>
                </a:solidFill>
                <a:latin typeface="Consolas"/>
              </a:rPr>
              <a:t>PLAINLY</a:t>
            </a:r>
          </a:p>
          <a:p>
            <a:pPr algn="l">
              <a:lnSpc>
                <a:spcPct val="118000"/>
              </a:lnSpc>
              <a:spcAft>
                <a:spcPts val="0"/>
              </a:spcAft>
            </a:pPr>
            <a:r>
              <a:rPr sz="850" b="0">
                <a:solidFill>
                  <a:srgbClr val="E9EDF7"/>
                </a:solidFill>
                <a:latin typeface="Segoe UI"/>
              </a:rPr>
              <a:t>Like hiring a crane to carry a thousand grocery bags.</a:t>
            </a:r>
          </a:p>
        </p:txBody>
      </p:sp>
      <p:sp>
        <p:nvSpPr>
          <p:cNvPr id="19" name="Rounded Rectangle 18"/>
          <p:cNvSpPr/>
          <p:nvPr/>
        </p:nvSpPr>
        <p:spPr>
          <a:xfrm>
            <a:off x="8112556" y="3611880"/>
            <a:ext cx="3576218" cy="2240280"/>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58860" y="3758184"/>
            <a:ext cx="3283610" cy="164592"/>
          </a:xfrm>
          <a:prstGeom prst="rect">
            <a:avLst/>
          </a:prstGeom>
          <a:noFill/>
        </p:spPr>
        <p:txBody>
          <a:bodyPr wrap="square" anchor="t" lIns="0" rIns="0" tIns="0" bIns="0">
            <a:spAutoFit/>
          </a:bodyPr>
          <a:lstStyle/>
          <a:p>
            <a:pPr algn="l">
              <a:spcAft>
                <a:spcPts val="0"/>
              </a:spcAft>
            </a:pPr>
            <a:r>
              <a:rPr sz="750" b="0" spc="130">
                <a:solidFill>
                  <a:srgbClr val="8B95B3"/>
                </a:solidFill>
                <a:latin typeface="Consolas"/>
              </a:rPr>
              <a:t>THE IDEA</a:t>
            </a:r>
          </a:p>
        </p:txBody>
      </p:sp>
      <p:sp>
        <p:nvSpPr>
          <p:cNvPr id="21" name="TextBox 20"/>
          <p:cNvSpPr txBox="1"/>
          <p:nvPr/>
        </p:nvSpPr>
        <p:spPr>
          <a:xfrm>
            <a:off x="8258860" y="3995928"/>
            <a:ext cx="3283610" cy="219456"/>
          </a:xfrm>
          <a:prstGeom prst="rect">
            <a:avLst/>
          </a:prstGeom>
          <a:noFill/>
        </p:spPr>
        <p:txBody>
          <a:bodyPr wrap="square" anchor="t" lIns="0" rIns="0" tIns="0" bIns="0">
            <a:spAutoFit/>
          </a:bodyPr>
          <a:lstStyle/>
          <a:p>
            <a:pPr algn="l">
              <a:lnSpc>
                <a:spcPct val="105000"/>
              </a:lnSpc>
              <a:spcAft>
                <a:spcPts val="0"/>
              </a:spcAft>
            </a:pPr>
            <a:r>
              <a:rPr sz="1150" b="1">
                <a:solidFill>
                  <a:srgbClr val="E9EDF7"/>
                </a:solidFill>
                <a:latin typeface="Segoe UI Semibold"/>
              </a:rPr>
              <a:t>One app, two sides of a market</a:t>
            </a:r>
          </a:p>
        </p:txBody>
      </p:sp>
      <p:sp>
        <p:nvSpPr>
          <p:cNvPr id="22" name="TextBox 21"/>
          <p:cNvSpPr txBox="1"/>
          <p:nvPr/>
        </p:nvSpPr>
        <p:spPr>
          <a:xfrm>
            <a:off x="8258860" y="4279392"/>
            <a:ext cx="3283610" cy="621792"/>
          </a:xfrm>
          <a:prstGeom prst="rect">
            <a:avLst/>
          </a:prstGeom>
          <a:noFill/>
        </p:spPr>
        <p:txBody>
          <a:bodyPr wrap="square" anchor="t" lIns="0" rIns="0" tIns="0" bIns="0">
            <a:spAutoFit/>
          </a:bodyPr>
          <a:lstStyle/>
          <a:p>
            <a:pPr algn="l">
              <a:lnSpc>
                <a:spcPct val="122000"/>
              </a:lnSpc>
              <a:spcAft>
                <a:spcPts val="0"/>
              </a:spcAft>
            </a:pPr>
            <a:r>
              <a:rPr sz="900" b="0">
                <a:solidFill>
                  <a:srgbClr val="8B95B3"/>
                </a:solidFill>
                <a:latin typeface="Segoe UI"/>
              </a:rPr>
              <a:t>Provider mode lends the phone's NPU under strict conditions and earns credits. Consumer mode submits a batch, watches it split across the fleet, and pays in those same credits.</a:t>
            </a:r>
          </a:p>
        </p:txBody>
      </p:sp>
      <p:sp>
        <p:nvSpPr>
          <p:cNvPr id="23" name="Rectangle 22"/>
          <p:cNvSpPr/>
          <p:nvPr/>
        </p:nvSpPr>
        <p:spPr>
          <a:xfrm>
            <a:off x="8258860" y="5321808"/>
            <a:ext cx="20116" cy="365760"/>
          </a:xfrm>
          <a:prstGeom prst="rect">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59444" y="5321808"/>
            <a:ext cx="3183026" cy="365760"/>
          </a:xfrm>
          <a:prstGeom prst="rect">
            <a:avLst/>
          </a:prstGeom>
          <a:noFill/>
        </p:spPr>
        <p:txBody>
          <a:bodyPr wrap="square" anchor="t" lIns="0" rIns="0" tIns="0" bIns="0">
            <a:spAutoFit/>
          </a:bodyPr>
          <a:lstStyle/>
          <a:p>
            <a:pPr algn="l">
              <a:spcAft>
                <a:spcPts val="100"/>
              </a:spcAft>
            </a:pPr>
            <a:r>
              <a:rPr sz="650" b="1" spc="130">
                <a:solidFill>
                  <a:srgbClr val="4FE0BC"/>
                </a:solidFill>
                <a:latin typeface="Consolas"/>
              </a:rPr>
              <a:t>PLAINLY</a:t>
            </a:r>
          </a:p>
          <a:p>
            <a:pPr algn="l">
              <a:lnSpc>
                <a:spcPct val="118000"/>
              </a:lnSpc>
              <a:spcAft>
                <a:spcPts val="0"/>
              </a:spcAft>
            </a:pPr>
            <a:r>
              <a:rPr sz="850" b="0">
                <a:solidFill>
                  <a:srgbClr val="E9EDF7"/>
                </a:solidFill>
                <a:latin typeface="Segoe UI"/>
              </a:rPr>
              <a:t>Lend your phone at night, spend what it earned during the day.</a:t>
            </a:r>
          </a:p>
        </p:txBody>
      </p:sp>
      <p:sp>
        <p:nvSpPr>
          <p:cNvPr id="25" name="Rounded Rectangle 24"/>
          <p:cNvSpPr/>
          <p:nvPr/>
        </p:nvSpPr>
        <p:spPr>
          <a:xfrm>
            <a:off x="502920" y="6080760"/>
            <a:ext cx="2551176" cy="256032"/>
          </a:xfrm>
          <a:prstGeom prst="roundRect">
            <a:avLst>
              <a:gd name="adj" fmla="val 50000"/>
            </a:avLst>
          </a:prstGeom>
          <a:noFill/>
          <a:ln w="9525">
            <a:solidFill>
              <a:srgbClr val="1B4A4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800">
                <a:solidFill>
                  <a:srgbClr val="4FE0BC"/>
                </a:solidFill>
                <a:latin typeface="Consolas"/>
              </a:rPr>
              <a:t>✓  Working prototype already built</a:t>
            </a:r>
          </a:p>
        </p:txBody>
      </p:sp>
      <p:sp>
        <p:nvSpPr>
          <p:cNvPr id="26" name="Rounded Rectangle 25"/>
          <p:cNvSpPr/>
          <p:nvPr/>
        </p:nvSpPr>
        <p:spPr>
          <a:xfrm>
            <a:off x="3163824" y="6080760"/>
            <a:ext cx="1522476" cy="256032"/>
          </a:xfrm>
          <a:prstGeom prst="roundRect">
            <a:avLst>
              <a:gd name="adj" fmla="val 50000"/>
            </a:avLst>
          </a:prstGeom>
          <a:no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800">
                <a:solidFill>
                  <a:srgbClr val="8B95B3"/>
                </a:solidFill>
                <a:latin typeface="Consolas"/>
              </a:rPr>
              <a:t>6,474 lines of code</a:t>
            </a:r>
          </a:p>
        </p:txBody>
      </p:sp>
      <p:sp>
        <p:nvSpPr>
          <p:cNvPr id="27" name="Rounded Rectangle 26"/>
          <p:cNvSpPr/>
          <p:nvPr/>
        </p:nvSpPr>
        <p:spPr>
          <a:xfrm>
            <a:off x="4796028" y="6080760"/>
            <a:ext cx="2345435" cy="256032"/>
          </a:xfrm>
          <a:prstGeom prst="roundRect">
            <a:avLst>
              <a:gd name="adj" fmla="val 50000"/>
            </a:avLst>
          </a:prstGeom>
          <a:no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800">
                <a:solidFill>
                  <a:srgbClr val="8B95B3"/>
                </a:solidFill>
                <a:latin typeface="Consolas"/>
              </a:rPr>
              <a:t>30 automated tests, all passing</a:t>
            </a:r>
          </a:p>
        </p:txBody>
      </p:sp>
      <p:sp>
        <p:nvSpPr>
          <p:cNvPr id="28" name="Rounded Rectangle 27"/>
          <p:cNvSpPr/>
          <p:nvPr/>
        </p:nvSpPr>
        <p:spPr>
          <a:xfrm>
            <a:off x="7251192" y="6080760"/>
            <a:ext cx="2276856" cy="256032"/>
          </a:xfrm>
          <a:prstGeom prst="roundRect">
            <a:avLst>
              <a:gd name="adj" fmla="val 50000"/>
            </a:avLst>
          </a:prstGeom>
          <a:no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800">
                <a:solidFill>
                  <a:srgbClr val="8B95B3"/>
                </a:solidFill>
                <a:latin typeface="Consolas"/>
              </a:rPr>
              <a:t>Installable Android app, 43 MB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B14"/>
        </a:solidFill>
        <a:effectLst/>
      </p:bgPr>
    </p:bg>
    <p:spTree>
      <p:nvGrpSpPr>
        <p:cNvPr id="1" name=""/>
        <p:cNvGrpSpPr/>
        <p:nvPr/>
      </p:nvGrpSpPr>
      <p:grpSpPr/>
      <p:sp>
        <p:nvSpPr>
          <p:cNvPr id="2" name="TextBox 1"/>
          <p:cNvSpPr txBox="1"/>
          <p:nvPr/>
        </p:nvSpPr>
        <p:spPr>
          <a:xfrm>
            <a:off x="502920" y="310896"/>
            <a:ext cx="11185855" cy="219456"/>
          </a:xfrm>
          <a:prstGeom prst="rect">
            <a:avLst/>
          </a:prstGeom>
          <a:noFill/>
        </p:spPr>
        <p:txBody>
          <a:bodyPr wrap="square" anchor="t" lIns="0" rIns="0" tIns="0" bIns="0">
            <a:spAutoFit/>
          </a:bodyPr>
          <a:lstStyle/>
          <a:p>
            <a:pPr algn="l">
              <a:spcAft>
                <a:spcPts val="0"/>
              </a:spcAft>
            </a:pPr>
            <a:r>
              <a:rPr sz="900" b="0" spc="160">
                <a:solidFill>
                  <a:srgbClr val="8B95B3"/>
                </a:solidFill>
                <a:latin typeface="Consolas"/>
              </a:rPr>
              <a:t>02 / 06     WHAT MAKES US DIFFERENT</a:t>
            </a:r>
          </a:p>
        </p:txBody>
      </p:sp>
      <p:sp>
        <p:nvSpPr>
          <p:cNvPr id="3" name="Rectangle 2"/>
          <p:cNvSpPr/>
          <p:nvPr/>
        </p:nvSpPr>
        <p:spPr>
          <a:xfrm>
            <a:off x="502920" y="576072"/>
            <a:ext cx="11185855" cy="10972"/>
          </a:xfrm>
          <a:prstGeom prst="rect">
            <a:avLst/>
          </a:prstGeom>
          <a:solidFill>
            <a:srgbClr val="26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749808"/>
            <a:ext cx="11185855" cy="914400"/>
          </a:xfrm>
          <a:prstGeom prst="rect">
            <a:avLst/>
          </a:prstGeom>
          <a:noFill/>
        </p:spPr>
        <p:txBody>
          <a:bodyPr wrap="square" anchor="t" lIns="0" rIns="0" tIns="0" bIns="0">
            <a:spAutoFit/>
          </a:bodyPr>
          <a:lstStyle/>
          <a:p>
            <a:pPr algn="l">
              <a:lnSpc>
                <a:spcPct val="95000"/>
              </a:lnSpc>
              <a:spcAft>
                <a:spcPts val="0"/>
              </a:spcAft>
            </a:pPr>
            <a:r>
              <a:rPr sz="2300" b="1">
                <a:solidFill>
                  <a:srgbClr val="E9EDF7"/>
                </a:solidFill>
                <a:latin typeface="Segoe UI Semibold"/>
              </a:rPr>
              <a:t>Networks like this already exist.
Every one of them rents computers. We rent phones.</a:t>
            </a:r>
          </a:p>
        </p:txBody>
      </p:sp>
      <p:graphicFrame>
        <p:nvGraphicFramePr>
          <p:cNvPr id="5" name="Table 4"/>
          <p:cNvGraphicFramePr>
            <a:graphicFrameLocks noGrp="1"/>
          </p:cNvGraphicFramePr>
          <p:nvPr/>
        </p:nvGraphicFramePr>
        <p:xfrm>
          <a:off x="502920" y="1755648"/>
          <a:ext cx="11185852" cy="1783080"/>
        </p:xfrm>
        <a:graphic>
          <a:graphicData uri="http://schemas.openxmlformats.org/drawingml/2006/table">
            <a:tbl>
              <a:tblPr>
                <a:tableStyleId>{5C22544A-7EE6-4342-B048-85BDC9FD1C3A}</a:tableStyleId>
              </a:tblPr>
              <a:tblGrid>
                <a:gridCol w="1789736"/>
                <a:gridCol w="3020180"/>
                <a:gridCol w="3132039"/>
                <a:gridCol w="3243897"/>
              </a:tblGrid>
              <a:tr h="297180">
                <a:tc>
                  <a:txBody>
                    <a:bodyPr wrap="square"/>
                    <a:lstStyle/>
                    <a:p>
                      <a:r>
                        <a:rPr sz="750" b="0">
                          <a:solidFill>
                            <a:srgbClr val="8B95B3"/>
                          </a:solidFill>
                          <a:latin typeface="Consolas"/>
                        </a:rPr>
                        <a:t>NETWORK</a:t>
                      </a:r>
                    </a:p>
                  </a:txBody>
                  <a:tcPr marL="91440" marR="73152" marT="45720" marB="45720" anchor="ctr">
                    <a:solidFill>
                      <a:srgbClr val="161E31"/>
                    </a:solidFill>
                  </a:tcPr>
                </a:tc>
                <a:tc>
                  <a:txBody>
                    <a:bodyPr wrap="square"/>
                    <a:lstStyle/>
                    <a:p>
                      <a:r>
                        <a:rPr sz="750" b="0">
                          <a:solidFill>
                            <a:srgbClr val="8B95B3"/>
                          </a:solidFill>
                          <a:latin typeface="Consolas"/>
                        </a:rPr>
                        <a:t>WHAT IT RENTS OUT</a:t>
                      </a:r>
                    </a:p>
                  </a:txBody>
                  <a:tcPr marL="91440" marR="73152" marT="45720" marB="45720" anchor="ctr">
                    <a:solidFill>
                      <a:srgbClr val="161E31"/>
                    </a:solidFill>
                  </a:tcPr>
                </a:tc>
                <a:tc>
                  <a:txBody>
                    <a:bodyPr wrap="square"/>
                    <a:lstStyle/>
                    <a:p>
                      <a:r>
                        <a:rPr sz="750" b="0">
                          <a:solidFill>
                            <a:srgbClr val="8B95B3"/>
                          </a:solidFill>
                          <a:latin typeface="Consolas"/>
                        </a:rPr>
                        <a:t>WHO CAN SUPPLY IT</a:t>
                      </a:r>
                    </a:p>
                  </a:txBody>
                  <a:tcPr marL="91440" marR="73152" marT="45720" marB="45720" anchor="ctr">
                    <a:solidFill>
                      <a:srgbClr val="161E31"/>
                    </a:solidFill>
                  </a:tcPr>
                </a:tc>
                <a:tc>
                  <a:txBody>
                    <a:bodyPr wrap="square"/>
                    <a:lstStyle/>
                    <a:p>
                      <a:r>
                        <a:rPr sz="750" b="0">
                          <a:solidFill>
                            <a:srgbClr val="8B95B3"/>
                          </a:solidFill>
                          <a:latin typeface="Consolas"/>
                        </a:rPr>
                        <a:t>WHAT YOU NEED TO JOIN</a:t>
                      </a:r>
                    </a:p>
                  </a:txBody>
                  <a:tcPr marL="91440" marR="73152" marT="45720" marB="45720" anchor="ctr">
                    <a:solidFill>
                      <a:srgbClr val="161E31"/>
                    </a:solidFill>
                  </a:tcPr>
                </a:tc>
              </a:tr>
              <a:tr h="297180">
                <a:tc>
                  <a:txBody>
                    <a:bodyPr wrap="square"/>
                    <a:lstStyle/>
                    <a:p>
                      <a:r>
                        <a:rPr sz="950" b="1">
                          <a:solidFill>
                            <a:srgbClr val="E9EDF7"/>
                          </a:solidFill>
                          <a:latin typeface="Segoe UI"/>
                        </a:rPr>
                        <a:t>Vast.ai</a:t>
                      </a:r>
                    </a:p>
                  </a:txBody>
                  <a:tcPr marL="91440" marR="73152" marT="45720" marB="45720" anchor="ctr">
                    <a:solidFill>
                      <a:srgbClr val="070B14"/>
                    </a:solidFill>
                  </a:tcPr>
                </a:tc>
                <a:tc>
                  <a:txBody>
                    <a:bodyPr wrap="square"/>
                    <a:lstStyle/>
                    <a:p>
                      <a:r>
                        <a:rPr sz="950" b="0">
                          <a:solidFill>
                            <a:srgbClr val="8B95B3"/>
                          </a:solidFill>
                          <a:latin typeface="Segoe UI"/>
                        </a:rPr>
                        <a:t>Desktop &amp; server graphics cards</a:t>
                      </a:r>
                    </a:p>
                  </a:txBody>
                  <a:tcPr marL="91440" marR="73152" marT="45720" marB="45720" anchor="ctr">
                    <a:solidFill>
                      <a:srgbClr val="070B14"/>
                    </a:solidFill>
                  </a:tcPr>
                </a:tc>
                <a:tc>
                  <a:txBody>
                    <a:bodyPr wrap="square"/>
                    <a:lstStyle/>
                    <a:p>
                      <a:r>
                        <a:rPr sz="950" b="0">
                          <a:solidFill>
                            <a:srgbClr val="8B95B3"/>
                          </a:solidFill>
                          <a:latin typeface="Segoe UI"/>
                        </a:rPr>
                        <a:t>Crypto miners, small hosts</a:t>
                      </a:r>
                    </a:p>
                  </a:txBody>
                  <a:tcPr marL="91440" marR="73152" marT="45720" marB="45720" anchor="ctr">
                    <a:solidFill>
                      <a:srgbClr val="070B14"/>
                    </a:solidFill>
                  </a:tcPr>
                </a:tc>
                <a:tc>
                  <a:txBody>
                    <a:bodyPr wrap="square"/>
                    <a:lstStyle/>
                    <a:p>
                      <a:r>
                        <a:rPr sz="950" b="0">
                          <a:solidFill>
                            <a:srgbClr val="8B95B3"/>
                          </a:solidFill>
                          <a:latin typeface="Segoe UI"/>
                        </a:rPr>
                        <a:t>A spare ₹1.5 lakh GPU</a:t>
                      </a:r>
                    </a:p>
                  </a:txBody>
                  <a:tcPr marL="91440" marR="73152" marT="45720" marB="45720" anchor="ctr">
                    <a:solidFill>
                      <a:srgbClr val="070B14"/>
                    </a:solidFill>
                  </a:tcPr>
                </a:tc>
              </a:tr>
              <a:tr h="297180">
                <a:tc>
                  <a:txBody>
                    <a:bodyPr wrap="square"/>
                    <a:lstStyle/>
                    <a:p>
                      <a:r>
                        <a:rPr sz="950" b="1">
                          <a:solidFill>
                            <a:srgbClr val="E9EDF7"/>
                          </a:solidFill>
                          <a:latin typeface="Segoe UI"/>
                        </a:rPr>
                        <a:t>Akash</a:t>
                      </a:r>
                    </a:p>
                  </a:txBody>
                  <a:tcPr marL="91440" marR="73152" marT="45720" marB="45720" anchor="ctr">
                    <a:solidFill>
                      <a:srgbClr val="070B14"/>
                    </a:solidFill>
                  </a:tcPr>
                </a:tc>
                <a:tc>
                  <a:txBody>
                    <a:bodyPr wrap="square"/>
                    <a:lstStyle/>
                    <a:p>
                      <a:r>
                        <a:rPr sz="950" b="0">
                          <a:solidFill>
                            <a:srgbClr val="8B95B3"/>
                          </a:solidFill>
                          <a:latin typeface="Segoe UI"/>
                        </a:rPr>
                        <a:t>Data-centre graphics cards</a:t>
                      </a:r>
                    </a:p>
                  </a:txBody>
                  <a:tcPr marL="91440" marR="73152" marT="45720" marB="45720" anchor="ctr">
                    <a:solidFill>
                      <a:srgbClr val="070B14"/>
                    </a:solidFill>
                  </a:tcPr>
                </a:tc>
                <a:tc>
                  <a:txBody>
                    <a:bodyPr wrap="square"/>
                    <a:lstStyle/>
                    <a:p>
                      <a:r>
                        <a:rPr sz="950" b="0">
                          <a:solidFill>
                            <a:srgbClr val="8B95B3"/>
                          </a:solidFill>
                          <a:latin typeface="Segoe UI"/>
                        </a:rPr>
                        <a:t>People who own server racks</a:t>
                      </a:r>
                    </a:p>
                  </a:txBody>
                  <a:tcPr marL="91440" marR="73152" marT="45720" marB="45720" anchor="ctr">
                    <a:solidFill>
                      <a:srgbClr val="070B14"/>
                    </a:solidFill>
                  </a:tcPr>
                </a:tc>
                <a:tc>
                  <a:txBody>
                    <a:bodyPr wrap="square"/>
                    <a:lstStyle/>
                    <a:p>
                      <a:r>
                        <a:rPr sz="950" b="0">
                          <a:solidFill>
                            <a:srgbClr val="8B95B3"/>
                          </a:solidFill>
                          <a:latin typeface="Segoe UI"/>
                        </a:rPr>
                        <a:t>Infrastructure and uptime</a:t>
                      </a:r>
                    </a:p>
                  </a:txBody>
                  <a:tcPr marL="91440" marR="73152" marT="45720" marB="45720" anchor="ctr">
                    <a:solidFill>
                      <a:srgbClr val="070B14"/>
                    </a:solidFill>
                  </a:tcPr>
                </a:tc>
              </a:tr>
              <a:tr h="297180">
                <a:tc>
                  <a:txBody>
                    <a:bodyPr wrap="square"/>
                    <a:lstStyle/>
                    <a:p>
                      <a:r>
                        <a:rPr sz="950" b="1">
                          <a:solidFill>
                            <a:srgbClr val="E9EDF7"/>
                          </a:solidFill>
                          <a:latin typeface="Segoe UI"/>
                        </a:rPr>
                        <a:t>io.net</a:t>
                      </a:r>
                    </a:p>
                  </a:txBody>
                  <a:tcPr marL="91440" marR="73152" marT="45720" marB="45720" anchor="ctr">
                    <a:solidFill>
                      <a:srgbClr val="070B14"/>
                    </a:solidFill>
                  </a:tcPr>
                </a:tc>
                <a:tc>
                  <a:txBody>
                    <a:bodyPr wrap="square"/>
                    <a:lstStyle/>
                    <a:p>
                      <a:r>
                        <a:rPr sz="950" b="0">
                          <a:solidFill>
                            <a:srgbClr val="8B95B3"/>
                          </a:solidFill>
                          <a:latin typeface="Segoe UI"/>
                        </a:rPr>
                        <a:t>Pooled GPU clusters</a:t>
                      </a:r>
                    </a:p>
                  </a:txBody>
                  <a:tcPr marL="91440" marR="73152" marT="45720" marB="45720" anchor="ctr">
                    <a:solidFill>
                      <a:srgbClr val="070B14"/>
                    </a:solidFill>
                  </a:tcPr>
                </a:tc>
                <a:tc>
                  <a:txBody>
                    <a:bodyPr wrap="square"/>
                    <a:lstStyle/>
                    <a:p>
                      <a:r>
                        <a:rPr sz="950" b="0">
                          <a:solidFill>
                            <a:srgbClr val="8B95B3"/>
                          </a:solidFill>
                          <a:latin typeface="Segoe UI"/>
                        </a:rPr>
                        <a:t>Data centres, mining farms</a:t>
                      </a:r>
                    </a:p>
                  </a:txBody>
                  <a:tcPr marL="91440" marR="73152" marT="45720" marB="45720" anchor="ctr">
                    <a:solidFill>
                      <a:srgbClr val="070B14"/>
                    </a:solidFill>
                  </a:tcPr>
                </a:tc>
                <a:tc>
                  <a:txBody>
                    <a:bodyPr wrap="square"/>
                    <a:lstStyle/>
                    <a:p>
                      <a:r>
                        <a:rPr sz="950" b="0">
                          <a:solidFill>
                            <a:srgbClr val="8B95B3"/>
                          </a:solidFill>
                          <a:latin typeface="Segoe UI"/>
                        </a:rPr>
                        <a:t>To already be a supplier</a:t>
                      </a:r>
                    </a:p>
                  </a:txBody>
                  <a:tcPr marL="91440" marR="73152" marT="45720" marB="45720" anchor="ctr">
                    <a:solidFill>
                      <a:srgbClr val="070B14"/>
                    </a:solidFill>
                  </a:tcPr>
                </a:tc>
              </a:tr>
              <a:tr h="297180">
                <a:tc>
                  <a:txBody>
                    <a:bodyPr wrap="square"/>
                    <a:lstStyle/>
                    <a:p>
                      <a:r>
                        <a:rPr sz="950" b="1">
                          <a:solidFill>
                            <a:srgbClr val="E9EDF7"/>
                          </a:solidFill>
                          <a:latin typeface="Segoe UI"/>
                        </a:rPr>
                        <a:t>Folding@home</a:t>
                      </a:r>
                    </a:p>
                  </a:txBody>
                  <a:tcPr marL="91440" marR="73152" marT="45720" marB="45720" anchor="ctr">
                    <a:solidFill>
                      <a:srgbClr val="070B14"/>
                    </a:solidFill>
                  </a:tcPr>
                </a:tc>
                <a:tc>
                  <a:txBody>
                    <a:bodyPr wrap="square"/>
                    <a:lstStyle/>
                    <a:p>
                      <a:r>
                        <a:rPr sz="950" b="0">
                          <a:solidFill>
                            <a:srgbClr val="8B95B3"/>
                          </a:solidFill>
                          <a:latin typeface="Segoe UI"/>
                        </a:rPr>
                        <a:t>Home computer power</a:t>
                      </a:r>
                    </a:p>
                  </a:txBody>
                  <a:tcPr marL="91440" marR="73152" marT="45720" marB="45720" anchor="ctr">
                    <a:solidFill>
                      <a:srgbClr val="070B14"/>
                    </a:solidFill>
                  </a:tcPr>
                </a:tc>
                <a:tc>
                  <a:txBody>
                    <a:bodyPr wrap="square"/>
                    <a:lstStyle/>
                    <a:p>
                      <a:r>
                        <a:rPr sz="950" b="0">
                          <a:solidFill>
                            <a:srgbClr val="8B95B3"/>
                          </a:solidFill>
                          <a:latin typeface="Segoe UI"/>
                        </a:rPr>
                        <a:t>Volunteers</a:t>
                      </a:r>
                    </a:p>
                  </a:txBody>
                  <a:tcPr marL="91440" marR="73152" marT="45720" marB="45720" anchor="ctr">
                    <a:solidFill>
                      <a:srgbClr val="070B14"/>
                    </a:solidFill>
                  </a:tcPr>
                </a:tc>
                <a:tc>
                  <a:txBody>
                    <a:bodyPr wrap="square"/>
                    <a:lstStyle/>
                    <a:p>
                      <a:r>
                        <a:rPr sz="950" b="0">
                          <a:solidFill>
                            <a:srgbClr val="8B95B3"/>
                          </a:solidFill>
                          <a:latin typeface="Segoe UI"/>
                        </a:rPr>
                        <a:t>Nothing — but nobody is paid</a:t>
                      </a:r>
                    </a:p>
                  </a:txBody>
                  <a:tcPr marL="91440" marR="73152" marT="45720" marB="45720" anchor="ctr">
                    <a:solidFill>
                      <a:srgbClr val="070B14"/>
                    </a:solidFill>
                  </a:tcPr>
                </a:tc>
              </a:tr>
              <a:tr h="297180">
                <a:tc>
                  <a:txBody>
                    <a:bodyPr wrap="square"/>
                    <a:lstStyle/>
                    <a:p>
                      <a:r>
                        <a:rPr sz="950" b="1">
                          <a:solidFill>
                            <a:srgbClr val="4FE0BC"/>
                          </a:solidFill>
                          <a:latin typeface="Segoe UI"/>
                        </a:rPr>
                        <a:t>NeuroMesh</a:t>
                      </a:r>
                    </a:p>
                  </a:txBody>
                  <a:tcPr marL="91440" marR="73152" marT="45720" marB="45720" anchor="ctr">
                    <a:solidFill>
                      <a:srgbClr val="070B14"/>
                    </a:solidFill>
                  </a:tcPr>
                </a:tc>
                <a:tc>
                  <a:txBody>
                    <a:bodyPr wrap="square"/>
                    <a:lstStyle/>
                    <a:p>
                      <a:r>
                        <a:rPr sz="950" b="1">
                          <a:solidFill>
                            <a:srgbClr val="E9EDF7"/>
                          </a:solidFill>
                          <a:latin typeface="Segoe UI"/>
                        </a:rPr>
                        <a:t>Phone AI chips</a:t>
                      </a:r>
                    </a:p>
                  </a:txBody>
                  <a:tcPr marL="91440" marR="73152" marT="45720" marB="45720" anchor="ctr">
                    <a:solidFill>
                      <a:srgbClr val="070B14"/>
                    </a:solidFill>
                  </a:tcPr>
                </a:tc>
                <a:tc>
                  <a:txBody>
                    <a:bodyPr wrap="square"/>
                    <a:lstStyle/>
                    <a:p>
                      <a:r>
                        <a:rPr sz="950" b="1">
                          <a:solidFill>
                            <a:srgbClr val="E9EDF7"/>
                          </a:solidFill>
                          <a:latin typeface="Segoe UI"/>
                        </a:rPr>
                        <a:t>Anyone with a phone and a charger</a:t>
                      </a:r>
                    </a:p>
                  </a:txBody>
                  <a:tcPr marL="91440" marR="73152" marT="45720" marB="45720" anchor="ctr">
                    <a:solidFill>
                      <a:srgbClr val="070B14"/>
                    </a:solidFill>
                  </a:tcPr>
                </a:tc>
                <a:tc>
                  <a:txBody>
                    <a:bodyPr wrap="square"/>
                    <a:lstStyle/>
                    <a:p>
                      <a:r>
                        <a:rPr sz="950" b="1">
                          <a:solidFill>
                            <a:srgbClr val="E9EDF7"/>
                          </a:solidFill>
                          <a:latin typeface="Segoe UI"/>
                        </a:rPr>
                        <a:t>To install an app and go to bed</a:t>
                      </a:r>
                    </a:p>
                  </a:txBody>
                  <a:tcPr marL="91440" marR="73152" marT="45720" marB="45720" anchor="ctr">
                    <a:solidFill>
                      <a:srgbClr val="070B14"/>
                    </a:solidFill>
                  </a:tcPr>
                </a:tc>
              </a:tr>
            </a:tbl>
          </a:graphicData>
        </a:graphic>
      </p:graphicFrame>
      <p:sp>
        <p:nvSpPr>
          <p:cNvPr id="6" name="Rounded Rectangle 5"/>
          <p:cNvSpPr/>
          <p:nvPr/>
        </p:nvSpPr>
        <p:spPr>
          <a:xfrm>
            <a:off x="502920" y="3767328"/>
            <a:ext cx="3576218" cy="2103120"/>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49224" y="3913632"/>
            <a:ext cx="3283610" cy="164592"/>
          </a:xfrm>
          <a:prstGeom prst="rect">
            <a:avLst/>
          </a:prstGeom>
          <a:noFill/>
        </p:spPr>
        <p:txBody>
          <a:bodyPr wrap="square" anchor="t" lIns="0" rIns="0" tIns="0" bIns="0">
            <a:spAutoFit/>
          </a:bodyPr>
          <a:lstStyle/>
          <a:p>
            <a:pPr algn="l">
              <a:spcAft>
                <a:spcPts val="0"/>
              </a:spcAft>
            </a:pPr>
            <a:r>
              <a:rPr sz="750" b="0" spc="130">
                <a:solidFill>
                  <a:srgbClr val="8B95B3"/>
                </a:solidFill>
                <a:latin typeface="Consolas"/>
              </a:rPr>
              <a:t>WHY NOW</a:t>
            </a:r>
          </a:p>
        </p:txBody>
      </p:sp>
      <p:sp>
        <p:nvSpPr>
          <p:cNvPr id="8" name="TextBox 7"/>
          <p:cNvSpPr txBox="1"/>
          <p:nvPr/>
        </p:nvSpPr>
        <p:spPr>
          <a:xfrm>
            <a:off x="649224" y="4151376"/>
            <a:ext cx="3283610" cy="438912"/>
          </a:xfrm>
          <a:prstGeom prst="rect">
            <a:avLst/>
          </a:prstGeom>
          <a:noFill/>
        </p:spPr>
        <p:txBody>
          <a:bodyPr wrap="square" anchor="t" lIns="0" rIns="0" tIns="0" bIns="0">
            <a:spAutoFit/>
          </a:bodyPr>
          <a:lstStyle/>
          <a:p>
            <a:pPr algn="l">
              <a:lnSpc>
                <a:spcPct val="105000"/>
              </a:lnSpc>
              <a:spcAft>
                <a:spcPts val="0"/>
              </a:spcAft>
            </a:pPr>
            <a:r>
              <a:rPr sz="1150" b="1">
                <a:solidFill>
                  <a:srgbClr val="E9EDF7"/>
                </a:solidFill>
                <a:latin typeface="Segoe UI Semibold"/>
              </a:rPr>
              <a:t>"Phones are too weak" stopped being true</a:t>
            </a:r>
          </a:p>
        </p:txBody>
      </p:sp>
      <p:sp>
        <p:nvSpPr>
          <p:cNvPr id="9" name="TextBox 8"/>
          <p:cNvSpPr txBox="1"/>
          <p:nvPr/>
        </p:nvSpPr>
        <p:spPr>
          <a:xfrm>
            <a:off x="649224" y="4626864"/>
            <a:ext cx="3283610" cy="777240"/>
          </a:xfrm>
          <a:prstGeom prst="rect">
            <a:avLst/>
          </a:prstGeom>
          <a:noFill/>
        </p:spPr>
        <p:txBody>
          <a:bodyPr wrap="square" anchor="t" lIns="0" rIns="0" tIns="0" bIns="0">
            <a:spAutoFit/>
          </a:bodyPr>
          <a:lstStyle/>
          <a:p>
            <a:pPr algn="l">
              <a:lnSpc>
                <a:spcPct val="122000"/>
              </a:lnSpc>
              <a:spcAft>
                <a:spcPts val="0"/>
              </a:spcAft>
            </a:pPr>
            <a:r>
              <a:rPr sz="900" b="0">
                <a:solidFill>
                  <a:srgbClr val="8B95B3"/>
                </a:solidFill>
                <a:latin typeface="Segoe UI"/>
              </a:rPr>
              <a:t>That was correct when phone AI chips managed 5 trillion operations per second and overheated in ninety seconds. Today's flagships do 40–50 trillion. And the perfect conditions already happen in every home, every night, free.</a:t>
            </a:r>
          </a:p>
        </p:txBody>
      </p:sp>
      <p:sp>
        <p:nvSpPr>
          <p:cNvPr id="10" name="Rectangle 9"/>
          <p:cNvSpPr/>
          <p:nvPr/>
        </p:nvSpPr>
        <p:spPr>
          <a:xfrm>
            <a:off x="649224" y="5340096"/>
            <a:ext cx="20116" cy="365760"/>
          </a:xfrm>
          <a:prstGeom prst="rect">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5340096"/>
            <a:ext cx="3183026" cy="365760"/>
          </a:xfrm>
          <a:prstGeom prst="rect">
            <a:avLst/>
          </a:prstGeom>
          <a:noFill/>
        </p:spPr>
        <p:txBody>
          <a:bodyPr wrap="square" anchor="t" lIns="0" rIns="0" tIns="0" bIns="0">
            <a:spAutoFit/>
          </a:bodyPr>
          <a:lstStyle/>
          <a:p>
            <a:pPr algn="l">
              <a:spcAft>
                <a:spcPts val="100"/>
              </a:spcAft>
            </a:pPr>
            <a:r>
              <a:rPr sz="650" b="1" spc="130">
                <a:solidFill>
                  <a:srgbClr val="4FE0BC"/>
                </a:solidFill>
                <a:latin typeface="Consolas"/>
              </a:rPr>
              <a:t>PLAINLY</a:t>
            </a:r>
          </a:p>
          <a:p>
            <a:pPr algn="l">
              <a:lnSpc>
                <a:spcPct val="118000"/>
              </a:lnSpc>
              <a:spcAft>
                <a:spcPts val="0"/>
              </a:spcAft>
            </a:pPr>
            <a:r>
              <a:rPr sz="850" b="0">
                <a:solidFill>
                  <a:srgbClr val="E9EDF7"/>
                </a:solidFill>
                <a:latin typeface="Segoe UI"/>
              </a:rPr>
              <a:t>The technology caught up. Nobody updated the assumption.</a:t>
            </a:r>
          </a:p>
        </p:txBody>
      </p:sp>
      <p:sp>
        <p:nvSpPr>
          <p:cNvPr id="12" name="Rounded Rectangle 11"/>
          <p:cNvSpPr/>
          <p:nvPr/>
        </p:nvSpPr>
        <p:spPr>
          <a:xfrm>
            <a:off x="4307738" y="3767328"/>
            <a:ext cx="3576218" cy="2103120"/>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454042" y="3913632"/>
            <a:ext cx="3283610" cy="164592"/>
          </a:xfrm>
          <a:prstGeom prst="rect">
            <a:avLst/>
          </a:prstGeom>
          <a:noFill/>
        </p:spPr>
        <p:txBody>
          <a:bodyPr wrap="square" anchor="t" lIns="0" rIns="0" tIns="0" bIns="0">
            <a:spAutoFit/>
          </a:bodyPr>
          <a:lstStyle/>
          <a:p>
            <a:pPr algn="l">
              <a:spcAft>
                <a:spcPts val="0"/>
              </a:spcAft>
            </a:pPr>
            <a:r>
              <a:rPr sz="750" b="0" spc="130">
                <a:solidFill>
                  <a:srgbClr val="8B95B3"/>
                </a:solidFill>
                <a:latin typeface="Consolas"/>
              </a:rPr>
              <a:t>OUR HONEST CLAIM</a:t>
            </a:r>
          </a:p>
        </p:txBody>
      </p:sp>
      <p:sp>
        <p:nvSpPr>
          <p:cNvPr id="14" name="TextBox 13"/>
          <p:cNvSpPr txBox="1"/>
          <p:nvPr/>
        </p:nvSpPr>
        <p:spPr>
          <a:xfrm>
            <a:off x="4454042" y="4151376"/>
            <a:ext cx="3283610" cy="438912"/>
          </a:xfrm>
          <a:prstGeom prst="rect">
            <a:avLst/>
          </a:prstGeom>
          <a:noFill/>
        </p:spPr>
        <p:txBody>
          <a:bodyPr wrap="square" anchor="t" lIns="0" rIns="0" tIns="0" bIns="0">
            <a:spAutoFit/>
          </a:bodyPr>
          <a:lstStyle/>
          <a:p>
            <a:pPr algn="l">
              <a:lnSpc>
                <a:spcPct val="105000"/>
              </a:lnSpc>
              <a:spcAft>
                <a:spcPts val="0"/>
              </a:spcAft>
            </a:pPr>
            <a:r>
              <a:rPr sz="1150" b="1">
                <a:solidFill>
                  <a:srgbClr val="E9EDF7"/>
                </a:solidFill>
                <a:latin typeface="Segoe UI Semibold"/>
              </a:rPr>
              <a:t>Not "cheaper than a server" — a closed loop</a:t>
            </a:r>
          </a:p>
        </p:txBody>
      </p:sp>
      <p:sp>
        <p:nvSpPr>
          <p:cNvPr id="15" name="TextBox 14"/>
          <p:cNvSpPr txBox="1"/>
          <p:nvPr/>
        </p:nvSpPr>
        <p:spPr>
          <a:xfrm>
            <a:off x="4454042" y="4626864"/>
            <a:ext cx="3283610" cy="621792"/>
          </a:xfrm>
          <a:prstGeom prst="rect">
            <a:avLst/>
          </a:prstGeom>
          <a:noFill/>
        </p:spPr>
        <p:txBody>
          <a:bodyPr wrap="square" anchor="t" lIns="0" rIns="0" tIns="0" bIns="0">
            <a:spAutoFit/>
          </a:bodyPr>
          <a:lstStyle/>
          <a:p>
            <a:pPr algn="l">
              <a:lnSpc>
                <a:spcPct val="122000"/>
              </a:lnSpc>
              <a:spcAft>
                <a:spcPts val="0"/>
              </a:spcAft>
            </a:pPr>
            <a:r>
              <a:rPr sz="900" b="0">
                <a:solidFill>
                  <a:srgbClr val="8B95B3"/>
                </a:solidFill>
                <a:latin typeface="Segoe UI"/>
              </a:rPr>
              <a:t>We do not pretend to beat data-centre pricing on raw cost. We offer what they cannot: earn credits while you sleep, spend them by day to run models your own phone is too small to run alone.</a:t>
            </a:r>
          </a:p>
        </p:txBody>
      </p:sp>
      <p:sp>
        <p:nvSpPr>
          <p:cNvPr id="16" name="Rectangle 15"/>
          <p:cNvSpPr/>
          <p:nvPr/>
        </p:nvSpPr>
        <p:spPr>
          <a:xfrm>
            <a:off x="4454042" y="5340096"/>
            <a:ext cx="20116" cy="365760"/>
          </a:xfrm>
          <a:prstGeom prst="rect">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54626" y="5340096"/>
            <a:ext cx="3183026" cy="365760"/>
          </a:xfrm>
          <a:prstGeom prst="rect">
            <a:avLst/>
          </a:prstGeom>
          <a:noFill/>
        </p:spPr>
        <p:txBody>
          <a:bodyPr wrap="square" anchor="t" lIns="0" rIns="0" tIns="0" bIns="0">
            <a:spAutoFit/>
          </a:bodyPr>
          <a:lstStyle/>
          <a:p>
            <a:pPr algn="l">
              <a:spcAft>
                <a:spcPts val="100"/>
              </a:spcAft>
            </a:pPr>
            <a:r>
              <a:rPr sz="650" b="1" spc="130">
                <a:solidFill>
                  <a:srgbClr val="4FE0BC"/>
                </a:solidFill>
                <a:latin typeface="Consolas"/>
              </a:rPr>
              <a:t>PLAINLY</a:t>
            </a:r>
          </a:p>
          <a:p>
            <a:pPr algn="l">
              <a:lnSpc>
                <a:spcPct val="118000"/>
              </a:lnSpc>
              <a:spcAft>
                <a:spcPts val="0"/>
              </a:spcAft>
            </a:pPr>
            <a:r>
              <a:rPr sz="850" b="0">
                <a:solidFill>
                  <a:srgbClr val="E9EDF7"/>
                </a:solidFill>
                <a:latin typeface="Segoe UI"/>
              </a:rPr>
              <a:t>The supplier and the customer are the same person.</a:t>
            </a:r>
          </a:p>
        </p:txBody>
      </p:sp>
      <p:sp>
        <p:nvSpPr>
          <p:cNvPr id="18" name="Rounded Rectangle 17"/>
          <p:cNvSpPr/>
          <p:nvPr/>
        </p:nvSpPr>
        <p:spPr>
          <a:xfrm>
            <a:off x="8112556" y="3767328"/>
            <a:ext cx="3576218" cy="2103120"/>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258860" y="3913632"/>
            <a:ext cx="3283610" cy="164592"/>
          </a:xfrm>
          <a:prstGeom prst="rect">
            <a:avLst/>
          </a:prstGeom>
          <a:noFill/>
        </p:spPr>
        <p:txBody>
          <a:bodyPr wrap="square" anchor="t" lIns="0" rIns="0" tIns="0" bIns="0">
            <a:spAutoFit/>
          </a:bodyPr>
          <a:lstStyle/>
          <a:p>
            <a:pPr algn="l">
              <a:spcAft>
                <a:spcPts val="0"/>
              </a:spcAft>
            </a:pPr>
            <a:r>
              <a:rPr sz="750" b="0" spc="130">
                <a:solidFill>
                  <a:srgbClr val="8B95B3"/>
                </a:solidFill>
                <a:latin typeface="Consolas"/>
              </a:rPr>
              <a:t>SUPPLY IS THE EASY PART</a:t>
            </a:r>
          </a:p>
        </p:txBody>
      </p:sp>
      <p:sp>
        <p:nvSpPr>
          <p:cNvPr id="20" name="TextBox 19"/>
          <p:cNvSpPr txBox="1"/>
          <p:nvPr/>
        </p:nvSpPr>
        <p:spPr>
          <a:xfrm>
            <a:off x="8258860" y="4151376"/>
            <a:ext cx="3283610" cy="438912"/>
          </a:xfrm>
          <a:prstGeom prst="rect">
            <a:avLst/>
          </a:prstGeom>
          <a:noFill/>
        </p:spPr>
        <p:txBody>
          <a:bodyPr wrap="square" anchor="t" lIns="0" rIns="0" tIns="0" bIns="0">
            <a:spAutoFit/>
          </a:bodyPr>
          <a:lstStyle/>
          <a:p>
            <a:pPr algn="l">
              <a:lnSpc>
                <a:spcPct val="105000"/>
              </a:lnSpc>
              <a:spcAft>
                <a:spcPts val="0"/>
              </a:spcAft>
            </a:pPr>
            <a:r>
              <a:rPr sz="1150" b="1">
                <a:solidFill>
                  <a:srgbClr val="E9EDF7"/>
                </a:solidFill>
                <a:latin typeface="Segoe UI Semibold"/>
              </a:rPr>
              <a:t>The problem that kills these networks does not apply to us</a:t>
            </a:r>
          </a:p>
        </p:txBody>
      </p:sp>
      <p:sp>
        <p:nvSpPr>
          <p:cNvPr id="21" name="TextBox 20"/>
          <p:cNvSpPr txBox="1"/>
          <p:nvPr/>
        </p:nvSpPr>
        <p:spPr>
          <a:xfrm>
            <a:off x="8258860" y="4626864"/>
            <a:ext cx="3283610" cy="466344"/>
          </a:xfrm>
          <a:prstGeom prst="rect">
            <a:avLst/>
          </a:prstGeom>
          <a:noFill/>
        </p:spPr>
        <p:txBody>
          <a:bodyPr wrap="square" anchor="t" lIns="0" rIns="0" tIns="0" bIns="0">
            <a:spAutoFit/>
          </a:bodyPr>
          <a:lstStyle/>
          <a:p>
            <a:pPr algn="l">
              <a:lnSpc>
                <a:spcPct val="122000"/>
              </a:lnSpc>
              <a:spcAft>
                <a:spcPts val="0"/>
              </a:spcAft>
            </a:pPr>
            <a:r>
              <a:rPr sz="900" b="0">
                <a:solidFill>
                  <a:srgbClr val="8B95B3"/>
                </a:solidFill>
                <a:latin typeface="Segoe UI"/>
              </a:rPr>
              <a:t>Every compute marketplace struggles to find suppliers — they need people who own expensive hardware. Our supplier just needs a phone they already own.</a:t>
            </a:r>
          </a:p>
        </p:txBody>
      </p:sp>
      <p:sp>
        <p:nvSpPr>
          <p:cNvPr id="22" name="Rectangle 21"/>
          <p:cNvSpPr/>
          <p:nvPr/>
        </p:nvSpPr>
        <p:spPr>
          <a:xfrm>
            <a:off x="8258860" y="5340096"/>
            <a:ext cx="20116" cy="365760"/>
          </a:xfrm>
          <a:prstGeom prst="rect">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59444" y="5340096"/>
            <a:ext cx="3183026" cy="365760"/>
          </a:xfrm>
          <a:prstGeom prst="rect">
            <a:avLst/>
          </a:prstGeom>
          <a:noFill/>
        </p:spPr>
        <p:txBody>
          <a:bodyPr wrap="square" anchor="t" lIns="0" rIns="0" tIns="0" bIns="0">
            <a:spAutoFit/>
          </a:bodyPr>
          <a:lstStyle/>
          <a:p>
            <a:pPr algn="l">
              <a:spcAft>
                <a:spcPts val="100"/>
              </a:spcAft>
            </a:pPr>
            <a:r>
              <a:rPr sz="650" b="1" spc="130">
                <a:solidFill>
                  <a:srgbClr val="4FE0BC"/>
                </a:solidFill>
                <a:latin typeface="Consolas"/>
              </a:rPr>
              <a:t>PLAINLY</a:t>
            </a:r>
          </a:p>
          <a:p>
            <a:pPr algn="l">
              <a:lnSpc>
                <a:spcPct val="118000"/>
              </a:lnSpc>
              <a:spcAft>
                <a:spcPts val="0"/>
              </a:spcAft>
            </a:pPr>
            <a:r>
              <a:rPr sz="850" b="0">
                <a:solidFill>
                  <a:srgbClr val="E9EDF7"/>
                </a:solidFill>
                <a:latin typeface="Segoe UI"/>
              </a:rPr>
              <a:t>No new hardware has to exist anywhere for this to scale.</a:t>
            </a:r>
          </a:p>
        </p:txBody>
      </p:sp>
      <p:sp>
        <p:nvSpPr>
          <p:cNvPr id="24" name="Rectangle 23"/>
          <p:cNvSpPr/>
          <p:nvPr/>
        </p:nvSpPr>
        <p:spPr>
          <a:xfrm>
            <a:off x="502920" y="6053328"/>
            <a:ext cx="20116" cy="502920"/>
          </a:xfrm>
          <a:prstGeom prst="rect">
            <a:avLst/>
          </a:prstGeom>
          <a:solidFill>
            <a:srgbClr val="FF8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 y="6053328"/>
            <a:ext cx="11002975" cy="502920"/>
          </a:xfrm>
          <a:prstGeom prst="rect">
            <a:avLst/>
          </a:prstGeom>
          <a:noFill/>
        </p:spPr>
        <p:txBody>
          <a:bodyPr wrap="square" anchor="t" lIns="0" rIns="0" tIns="0" bIns="0">
            <a:spAutoFit/>
          </a:bodyPr>
          <a:lstStyle/>
          <a:p>
            <a:pPr algn="l">
              <a:lnSpc>
                <a:spcPct val="125000"/>
              </a:lnSpc>
              <a:spcAft>
                <a:spcPts val="0"/>
              </a:spcAft>
            </a:pPr>
            <a:r>
              <a:rPr sz="850" b="0">
                <a:solidFill>
                  <a:srgbClr val="8B95B3"/>
                </a:solidFill>
                <a:latin typeface="Segoe UI"/>
              </a:rPr>
              <a:t>What we deliberately do not do, and why:  phones can run AI models but cannot train them — the chip is built for one and physically not the other. And we only accept work that splits into fully independent pieces, so no phone ever waits on another. Both limits are designed in on purpose.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B14"/>
        </a:solidFill>
        <a:effectLst/>
      </p:bgPr>
    </p:bg>
    <p:spTree>
      <p:nvGrpSpPr>
        <p:cNvPr id="1" name=""/>
        <p:cNvGrpSpPr/>
        <p:nvPr/>
      </p:nvGrpSpPr>
      <p:grpSpPr/>
      <p:sp>
        <p:nvSpPr>
          <p:cNvPr id="2" name="TextBox 1"/>
          <p:cNvSpPr txBox="1"/>
          <p:nvPr/>
        </p:nvSpPr>
        <p:spPr>
          <a:xfrm>
            <a:off x="502920" y="310896"/>
            <a:ext cx="11185855" cy="219456"/>
          </a:xfrm>
          <a:prstGeom prst="rect">
            <a:avLst/>
          </a:prstGeom>
          <a:noFill/>
        </p:spPr>
        <p:txBody>
          <a:bodyPr wrap="square" anchor="t" lIns="0" rIns="0" tIns="0" bIns="0">
            <a:spAutoFit/>
          </a:bodyPr>
          <a:lstStyle/>
          <a:p>
            <a:pPr algn="l">
              <a:spcAft>
                <a:spcPts val="0"/>
              </a:spcAft>
            </a:pPr>
            <a:r>
              <a:rPr sz="900" b="0" spc="160">
                <a:solidFill>
                  <a:srgbClr val="8B95B3"/>
                </a:solidFill>
                <a:latin typeface="Consolas"/>
              </a:rPr>
              <a:t>03 / 06     HOW IT WORKS</a:t>
            </a:r>
          </a:p>
        </p:txBody>
      </p:sp>
      <p:sp>
        <p:nvSpPr>
          <p:cNvPr id="3" name="Rectangle 2"/>
          <p:cNvSpPr/>
          <p:nvPr/>
        </p:nvSpPr>
        <p:spPr>
          <a:xfrm>
            <a:off x="502920" y="576072"/>
            <a:ext cx="11185855" cy="10972"/>
          </a:xfrm>
          <a:prstGeom prst="rect">
            <a:avLst/>
          </a:prstGeom>
          <a:solidFill>
            <a:srgbClr val="26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731520"/>
            <a:ext cx="11185855" cy="914400"/>
          </a:xfrm>
          <a:prstGeom prst="rect">
            <a:avLst/>
          </a:prstGeom>
          <a:noFill/>
        </p:spPr>
        <p:txBody>
          <a:bodyPr wrap="square" anchor="t" lIns="0" rIns="0" tIns="0" bIns="0">
            <a:spAutoFit/>
          </a:bodyPr>
          <a:lstStyle/>
          <a:p>
            <a:pPr algn="l">
              <a:lnSpc>
                <a:spcPct val="95000"/>
              </a:lnSpc>
              <a:spcAft>
                <a:spcPts val="0"/>
              </a:spcAft>
            </a:pPr>
            <a:r>
              <a:rPr sz="2100" b="1">
                <a:solidFill>
                  <a:srgbClr val="E9EDF7"/>
                </a:solidFill>
                <a:latin typeface="Segoe UI Semibold"/>
              </a:rPr>
              <a:t>One job, cut into slices, handed out one at a time so no two phones can take the same slice.</a:t>
            </a:r>
          </a:p>
        </p:txBody>
      </p:sp>
      <p:sp>
        <p:nvSpPr>
          <p:cNvPr id="5" name="Rounded Rectangle 4"/>
          <p:cNvSpPr/>
          <p:nvPr/>
        </p:nvSpPr>
        <p:spPr>
          <a:xfrm>
            <a:off x="502920" y="1444752"/>
            <a:ext cx="11185855" cy="548640"/>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49224" y="1536192"/>
            <a:ext cx="2522143" cy="384048"/>
          </a:xfrm>
          <a:prstGeom prst="rect">
            <a:avLst/>
          </a:prstGeom>
          <a:noFill/>
        </p:spPr>
        <p:txBody>
          <a:bodyPr wrap="square" anchor="t" lIns="0" rIns="0" tIns="0" bIns="0">
            <a:spAutoFit/>
          </a:bodyPr>
          <a:lstStyle/>
          <a:p>
            <a:pPr algn="l">
              <a:spcAft>
                <a:spcPts val="200"/>
              </a:spcAft>
            </a:pPr>
            <a:r>
              <a:rPr sz="800" b="1" spc="110">
                <a:solidFill>
                  <a:srgbClr val="4FE0BC"/>
                </a:solidFill>
                <a:latin typeface="Consolas"/>
              </a:rPr>
              <a:t>NPU</a:t>
            </a:r>
          </a:p>
          <a:p>
            <a:pPr algn="l">
              <a:lnSpc>
                <a:spcPct val="115000"/>
              </a:lnSpc>
              <a:spcAft>
                <a:spcPts val="0"/>
              </a:spcAft>
            </a:pPr>
            <a:r>
              <a:rPr sz="850" b="0">
                <a:solidFill>
                  <a:srgbClr val="8B95B3"/>
                </a:solidFill>
                <a:latin typeface="Segoe UI"/>
              </a:rPr>
              <a:t>The AI-only chip inside the phone.</a:t>
            </a:r>
          </a:p>
        </p:txBody>
      </p:sp>
      <p:sp>
        <p:nvSpPr>
          <p:cNvPr id="7" name="Rectangle 6"/>
          <p:cNvSpPr/>
          <p:nvPr/>
        </p:nvSpPr>
        <p:spPr>
          <a:xfrm>
            <a:off x="3299383" y="1517904"/>
            <a:ext cx="7315" cy="402335"/>
          </a:xfrm>
          <a:prstGeom prst="rect">
            <a:avLst/>
          </a:prstGeom>
          <a:solidFill>
            <a:srgbClr val="26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45687" y="1536192"/>
            <a:ext cx="2522143" cy="384048"/>
          </a:xfrm>
          <a:prstGeom prst="rect">
            <a:avLst/>
          </a:prstGeom>
          <a:noFill/>
        </p:spPr>
        <p:txBody>
          <a:bodyPr wrap="square" anchor="t" lIns="0" rIns="0" tIns="0" bIns="0">
            <a:spAutoFit/>
          </a:bodyPr>
          <a:lstStyle/>
          <a:p>
            <a:pPr algn="l">
              <a:spcAft>
                <a:spcPts val="200"/>
              </a:spcAft>
            </a:pPr>
            <a:r>
              <a:rPr sz="800" b="1" spc="110">
                <a:solidFill>
                  <a:srgbClr val="4FE0BC"/>
                </a:solidFill>
                <a:latin typeface="Consolas"/>
              </a:rPr>
              <a:t>SHARD</a:t>
            </a:r>
          </a:p>
          <a:p>
            <a:pPr algn="l">
              <a:lnSpc>
                <a:spcPct val="115000"/>
              </a:lnSpc>
              <a:spcAft>
                <a:spcPts val="0"/>
              </a:spcAft>
            </a:pPr>
            <a:r>
              <a:rPr sz="850" b="0">
                <a:solidFill>
                  <a:srgbClr val="8B95B3"/>
                </a:solidFill>
                <a:latin typeface="Segoe UI"/>
              </a:rPr>
              <a:t>One small slice of a big job — 8 items out of 120.</a:t>
            </a:r>
          </a:p>
        </p:txBody>
      </p:sp>
      <p:sp>
        <p:nvSpPr>
          <p:cNvPr id="9" name="Rectangle 8"/>
          <p:cNvSpPr/>
          <p:nvPr/>
        </p:nvSpPr>
        <p:spPr>
          <a:xfrm>
            <a:off x="6095847" y="1517904"/>
            <a:ext cx="7315" cy="402335"/>
          </a:xfrm>
          <a:prstGeom prst="rect">
            <a:avLst/>
          </a:prstGeom>
          <a:solidFill>
            <a:srgbClr val="26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42151" y="1536192"/>
            <a:ext cx="2522143" cy="384048"/>
          </a:xfrm>
          <a:prstGeom prst="rect">
            <a:avLst/>
          </a:prstGeom>
          <a:noFill/>
        </p:spPr>
        <p:txBody>
          <a:bodyPr wrap="square" anchor="t" lIns="0" rIns="0" tIns="0" bIns="0">
            <a:spAutoFit/>
          </a:bodyPr>
          <a:lstStyle/>
          <a:p>
            <a:pPr algn="l">
              <a:spcAft>
                <a:spcPts val="200"/>
              </a:spcAft>
            </a:pPr>
            <a:r>
              <a:rPr sz="800" b="1" spc="110">
                <a:solidFill>
                  <a:srgbClr val="4FE0BC"/>
                </a:solidFill>
                <a:latin typeface="Consolas"/>
              </a:rPr>
              <a:t>LEASE</a:t>
            </a:r>
          </a:p>
          <a:p>
            <a:pPr algn="l">
              <a:lnSpc>
                <a:spcPct val="115000"/>
              </a:lnSpc>
              <a:spcAft>
                <a:spcPts val="0"/>
              </a:spcAft>
            </a:pPr>
            <a:r>
              <a:rPr sz="850" b="0">
                <a:solidFill>
                  <a:srgbClr val="8B95B3"/>
                </a:solidFill>
                <a:latin typeface="Segoe UI"/>
              </a:rPr>
              <a:t>A 30-second reservation on a slice.</a:t>
            </a:r>
          </a:p>
        </p:txBody>
      </p:sp>
      <p:sp>
        <p:nvSpPr>
          <p:cNvPr id="11" name="Rectangle 10"/>
          <p:cNvSpPr/>
          <p:nvPr/>
        </p:nvSpPr>
        <p:spPr>
          <a:xfrm>
            <a:off x="8892311" y="1517904"/>
            <a:ext cx="7315" cy="402335"/>
          </a:xfrm>
          <a:prstGeom prst="rect">
            <a:avLst/>
          </a:prstGeom>
          <a:solidFill>
            <a:srgbClr val="26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38615" y="1536192"/>
            <a:ext cx="2522143" cy="384048"/>
          </a:xfrm>
          <a:prstGeom prst="rect">
            <a:avLst/>
          </a:prstGeom>
          <a:noFill/>
        </p:spPr>
        <p:txBody>
          <a:bodyPr wrap="square" anchor="t" lIns="0" rIns="0" tIns="0" bIns="0">
            <a:spAutoFit/>
          </a:bodyPr>
          <a:lstStyle/>
          <a:p>
            <a:pPr algn="l">
              <a:spcAft>
                <a:spcPts val="200"/>
              </a:spcAft>
            </a:pPr>
            <a:r>
              <a:rPr sz="800" b="1" spc="110">
                <a:solidFill>
                  <a:srgbClr val="4FE0BC"/>
                </a:solidFill>
                <a:latin typeface="Consolas"/>
              </a:rPr>
              <a:t>CREDITS</a:t>
            </a:r>
          </a:p>
          <a:p>
            <a:pPr algn="l">
              <a:lnSpc>
                <a:spcPct val="115000"/>
              </a:lnSpc>
              <a:spcAft>
                <a:spcPts val="0"/>
              </a:spcAft>
            </a:pPr>
            <a:r>
              <a:rPr sz="850" b="0">
                <a:solidFill>
                  <a:srgbClr val="8B95B3"/>
                </a:solidFill>
                <a:latin typeface="Segoe UI"/>
              </a:rPr>
              <a:t>The in-app currency: earned, then spent.</a:t>
            </a:r>
          </a:p>
        </p:txBody>
      </p:sp>
      <p:sp>
        <p:nvSpPr>
          <p:cNvPr id="13" name="Rounded Rectangle 12"/>
          <p:cNvSpPr/>
          <p:nvPr/>
        </p:nvSpPr>
        <p:spPr>
          <a:xfrm>
            <a:off x="548640" y="2898648"/>
            <a:ext cx="1325880" cy="1234440"/>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8368" y="3054096"/>
            <a:ext cx="1097280" cy="914400"/>
          </a:xfrm>
          <a:prstGeom prst="rect">
            <a:avLst/>
          </a:prstGeom>
          <a:noFill/>
        </p:spPr>
        <p:txBody>
          <a:bodyPr wrap="square" anchor="t" lIns="0" rIns="0" tIns="0" bIns="0">
            <a:spAutoFit/>
          </a:bodyPr>
          <a:lstStyle/>
          <a:p>
            <a:pPr algn="l">
              <a:spcAft>
                <a:spcPts val="300"/>
              </a:spcAft>
            </a:pPr>
            <a:r>
              <a:rPr sz="1100" b="1">
                <a:solidFill>
                  <a:srgbClr val="E9EDF7"/>
                </a:solidFill>
                <a:latin typeface="Segoe UI Semibold"/>
              </a:rPr>
              <a:t>Phone 1</a:t>
            </a:r>
          </a:p>
          <a:p>
            <a:pPr algn="l">
              <a:spcAft>
                <a:spcPts val="0"/>
              </a:spcAft>
            </a:pPr>
            <a:r>
              <a:rPr sz="800" b="0">
                <a:solidFill>
                  <a:srgbClr val="8B95B3"/>
                </a:solidFill>
                <a:latin typeface="Segoe UI"/>
              </a:rPr>
              <a:t>sends the job</a:t>
            </a:r>
          </a:p>
          <a:p>
            <a:pPr algn="l">
              <a:spcAft>
                <a:spcPts val="500"/>
              </a:spcAft>
            </a:pPr>
            <a:r>
              <a:rPr sz="800" b="0">
                <a:solidFill>
                  <a:srgbClr val="8B95B3"/>
                </a:solidFill>
                <a:latin typeface="Segoe UI"/>
              </a:rPr>
              <a:t>watches it live</a:t>
            </a:r>
          </a:p>
          <a:p>
            <a:pPr algn="l">
              <a:spcAft>
                <a:spcPts val="0"/>
              </a:spcAft>
            </a:pPr>
            <a:r>
              <a:rPr sz="750" b="0">
                <a:solidFill>
                  <a:srgbClr val="8AA5FF"/>
                </a:solidFill>
                <a:latin typeface="Consolas"/>
              </a:rPr>
              <a:t>"consumer"</a:t>
            </a:r>
          </a:p>
        </p:txBody>
      </p:sp>
      <p:sp>
        <p:nvSpPr>
          <p:cNvPr id="15" name="Rounded Rectangle 14"/>
          <p:cNvSpPr/>
          <p:nvPr/>
        </p:nvSpPr>
        <p:spPr>
          <a:xfrm>
            <a:off x="2148840" y="2212848"/>
            <a:ext cx="4617720" cy="2697480"/>
          </a:xfrm>
          <a:prstGeom prst="roundRect">
            <a:avLst>
              <a:gd name="adj" fmla="val 4500"/>
            </a:avLst>
          </a:prstGeom>
          <a:no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86000" y="2304288"/>
            <a:ext cx="4389120" cy="182880"/>
          </a:xfrm>
          <a:prstGeom prst="rect">
            <a:avLst/>
          </a:prstGeom>
          <a:noFill/>
        </p:spPr>
        <p:txBody>
          <a:bodyPr wrap="square" anchor="t" lIns="0" rIns="0" tIns="0" bIns="0">
            <a:spAutoFit/>
          </a:bodyPr>
          <a:lstStyle/>
          <a:p>
            <a:pPr algn="l">
              <a:spcAft>
                <a:spcPts val="0"/>
              </a:spcAft>
            </a:pPr>
            <a:r>
              <a:rPr sz="750" b="0" spc="130">
                <a:solidFill>
                  <a:srgbClr val="8B95B3"/>
                </a:solidFill>
                <a:latin typeface="Consolas"/>
              </a:rPr>
              <a:t>THE COORDINATOR  (A SMALL SERVER)</a:t>
            </a:r>
          </a:p>
        </p:txBody>
      </p:sp>
      <p:sp>
        <p:nvSpPr>
          <p:cNvPr id="17" name="Rounded Rectangle 16"/>
          <p:cNvSpPr/>
          <p:nvPr/>
        </p:nvSpPr>
        <p:spPr>
          <a:xfrm>
            <a:off x="2286000" y="2542032"/>
            <a:ext cx="4343400" cy="438912"/>
          </a:xfrm>
          <a:prstGeom prst="roundRect">
            <a:avLst>
              <a:gd name="adj" fmla="val 4500"/>
            </a:avLst>
          </a:prstGeom>
          <a:solidFill>
            <a:srgbClr val="161E31"/>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414016" y="2596896"/>
            <a:ext cx="4114800" cy="347472"/>
          </a:xfrm>
          <a:prstGeom prst="rect">
            <a:avLst/>
          </a:prstGeom>
          <a:noFill/>
        </p:spPr>
        <p:txBody>
          <a:bodyPr wrap="square" anchor="t" lIns="0" rIns="0" tIns="0" bIns="0">
            <a:spAutoFit/>
          </a:bodyPr>
          <a:lstStyle/>
          <a:p>
            <a:pPr algn="l">
              <a:spcAft>
                <a:spcPts val="200"/>
              </a:spcAft>
            </a:pPr>
            <a:r>
              <a:rPr sz="1000" b="1">
                <a:solidFill>
                  <a:srgbClr val="E9EDF7"/>
                </a:solidFill>
                <a:latin typeface="Segoe UI Semibold"/>
              </a:rPr>
              <a:t>1 · Cut the job into slices</a:t>
            </a:r>
          </a:p>
          <a:p>
            <a:pPr algn="l">
              <a:spcAft>
                <a:spcPts val="0"/>
              </a:spcAft>
            </a:pPr>
            <a:r>
              <a:rPr sz="800" b="0">
                <a:solidFill>
                  <a:srgbClr val="8B95B3"/>
                </a:solidFill>
                <a:latin typeface="Segoe UI"/>
              </a:rPr>
              <a:t>price it · hold the credits · lock the data</a:t>
            </a:r>
          </a:p>
        </p:txBody>
      </p:sp>
      <p:sp>
        <p:nvSpPr>
          <p:cNvPr id="19" name="Rounded Rectangle 18"/>
          <p:cNvSpPr/>
          <p:nvPr/>
        </p:nvSpPr>
        <p:spPr>
          <a:xfrm>
            <a:off x="2286000" y="3054096"/>
            <a:ext cx="4343400" cy="777240"/>
          </a:xfrm>
          <a:prstGeom prst="roundRect">
            <a:avLst>
              <a:gd name="adj" fmla="val 4500"/>
            </a:avLst>
          </a:prstGeom>
          <a:solidFill>
            <a:srgbClr val="161E31"/>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414016" y="3099815"/>
            <a:ext cx="4114800" cy="182880"/>
          </a:xfrm>
          <a:prstGeom prst="rect">
            <a:avLst/>
          </a:prstGeom>
          <a:noFill/>
        </p:spPr>
        <p:txBody>
          <a:bodyPr wrap="square" anchor="t" lIns="0" rIns="0" tIns="0" bIns="0">
            <a:spAutoFit/>
          </a:bodyPr>
          <a:lstStyle/>
          <a:p>
            <a:pPr algn="l">
              <a:spcAft>
                <a:spcPts val="0"/>
              </a:spcAft>
            </a:pPr>
            <a:r>
              <a:rPr sz="1000" b="1">
                <a:solidFill>
                  <a:srgbClr val="E9EDF7"/>
                </a:solidFill>
                <a:latin typeface="Segoe UI Semibold"/>
              </a:rPr>
              <a:t>2 · Queue by phone strength</a:t>
            </a:r>
          </a:p>
        </p:txBody>
      </p:sp>
      <p:sp>
        <p:nvSpPr>
          <p:cNvPr id="21" name="Rectangle 20"/>
          <p:cNvSpPr/>
          <p:nvPr/>
        </p:nvSpPr>
        <p:spPr>
          <a:xfrm>
            <a:off x="2414016" y="3310128"/>
            <a:ext cx="4069080" cy="150876"/>
          </a:xfrm>
          <a:prstGeom prst="rect">
            <a:avLst/>
          </a:prstGeom>
          <a:solidFill>
            <a:srgbClr val="1B4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05456" y="3330244"/>
            <a:ext cx="3840480" cy="128016"/>
          </a:xfrm>
          <a:prstGeom prst="rect">
            <a:avLst/>
          </a:prstGeom>
          <a:noFill/>
        </p:spPr>
        <p:txBody>
          <a:bodyPr wrap="square" anchor="t" lIns="0" rIns="0" tIns="0" bIns="0">
            <a:spAutoFit/>
          </a:bodyPr>
          <a:lstStyle/>
          <a:p>
            <a:pPr algn="l">
              <a:spcAft>
                <a:spcPts val="0"/>
              </a:spcAft>
            </a:pPr>
            <a:r>
              <a:rPr sz="750" b="0">
                <a:solidFill>
                  <a:srgbClr val="E9EDF7"/>
                </a:solidFill>
                <a:latin typeface="Consolas"/>
              </a:rPr>
              <a:t>strong phones · NPU</a:t>
            </a:r>
          </a:p>
        </p:txBody>
      </p:sp>
      <p:sp>
        <p:nvSpPr>
          <p:cNvPr id="23" name="Rectangle 22"/>
          <p:cNvSpPr/>
          <p:nvPr/>
        </p:nvSpPr>
        <p:spPr>
          <a:xfrm>
            <a:off x="2414016" y="3483864"/>
            <a:ext cx="4069080" cy="150876"/>
          </a:xfrm>
          <a:prstGeom prst="rect">
            <a:avLst/>
          </a:prstGeom>
          <a:solidFill>
            <a:srgbClr val="243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05456" y="3503980"/>
            <a:ext cx="3840480" cy="128016"/>
          </a:xfrm>
          <a:prstGeom prst="rect">
            <a:avLst/>
          </a:prstGeom>
          <a:noFill/>
        </p:spPr>
        <p:txBody>
          <a:bodyPr wrap="square" anchor="t" lIns="0" rIns="0" tIns="0" bIns="0">
            <a:spAutoFit/>
          </a:bodyPr>
          <a:lstStyle/>
          <a:p>
            <a:pPr algn="l">
              <a:spcAft>
                <a:spcPts val="0"/>
              </a:spcAft>
            </a:pPr>
            <a:r>
              <a:rPr sz="750" b="0">
                <a:solidFill>
                  <a:srgbClr val="E9EDF7"/>
                </a:solidFill>
                <a:latin typeface="Consolas"/>
              </a:rPr>
              <a:t>mid phones · graphics chip</a:t>
            </a:r>
          </a:p>
        </p:txBody>
      </p:sp>
      <p:sp>
        <p:nvSpPr>
          <p:cNvPr id="25" name="Rectangle 24"/>
          <p:cNvSpPr/>
          <p:nvPr/>
        </p:nvSpPr>
        <p:spPr>
          <a:xfrm>
            <a:off x="2414016" y="3657600"/>
            <a:ext cx="4069080" cy="150876"/>
          </a:xfrm>
          <a:prstGeom prst="rect">
            <a:avLst/>
          </a:prstGeom>
          <a:solidFill>
            <a:srgbClr val="2A3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05456" y="3677716"/>
            <a:ext cx="3840480" cy="128016"/>
          </a:xfrm>
          <a:prstGeom prst="rect">
            <a:avLst/>
          </a:prstGeom>
          <a:noFill/>
        </p:spPr>
        <p:txBody>
          <a:bodyPr wrap="square" anchor="t" lIns="0" rIns="0" tIns="0" bIns="0">
            <a:spAutoFit/>
          </a:bodyPr>
          <a:lstStyle/>
          <a:p>
            <a:pPr algn="l">
              <a:spcAft>
                <a:spcPts val="0"/>
              </a:spcAft>
            </a:pPr>
            <a:r>
              <a:rPr sz="750" b="0">
                <a:solidFill>
                  <a:srgbClr val="E9EDF7"/>
                </a:solidFill>
                <a:latin typeface="Consolas"/>
              </a:rPr>
              <a:t>basic phones · main processor</a:t>
            </a:r>
          </a:p>
        </p:txBody>
      </p:sp>
      <p:sp>
        <p:nvSpPr>
          <p:cNvPr id="27" name="Rounded Rectangle 26"/>
          <p:cNvSpPr/>
          <p:nvPr/>
        </p:nvSpPr>
        <p:spPr>
          <a:xfrm>
            <a:off x="2286000" y="3904487"/>
            <a:ext cx="4343400" cy="457200"/>
          </a:xfrm>
          <a:prstGeom prst="roundRect">
            <a:avLst>
              <a:gd name="adj" fmla="val 4500"/>
            </a:avLst>
          </a:prstGeom>
          <a:noFill/>
          <a:ln w="15875">
            <a:solidFill>
              <a:srgbClr val="4FE0B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2414016" y="3950208"/>
            <a:ext cx="4114800" cy="365760"/>
          </a:xfrm>
          <a:prstGeom prst="rect">
            <a:avLst/>
          </a:prstGeom>
          <a:noFill/>
        </p:spPr>
        <p:txBody>
          <a:bodyPr wrap="square" anchor="t" lIns="0" rIns="0" tIns="0" bIns="0">
            <a:spAutoFit/>
          </a:bodyPr>
          <a:lstStyle/>
          <a:p>
            <a:pPr algn="l">
              <a:spcAft>
                <a:spcPts val="200"/>
              </a:spcAft>
            </a:pPr>
            <a:r>
              <a:rPr sz="1000" b="1">
                <a:solidFill>
                  <a:srgbClr val="4FE0BC"/>
                </a:solidFill>
                <a:latin typeface="Segoe UI Semibold"/>
              </a:rPr>
              <a:t>3 · Hand out one slice</a:t>
            </a:r>
          </a:p>
          <a:p>
            <a:pPr algn="l">
              <a:spcAft>
                <a:spcPts val="0"/>
              </a:spcAft>
            </a:pPr>
            <a:r>
              <a:rPr sz="750" b="0">
                <a:solidFill>
                  <a:srgbClr val="8B95B3"/>
                </a:solidFill>
                <a:latin typeface="Segoe UI"/>
              </a:rPr>
              <a:t>a single unbreakable step — no two phones can ever get the same slice</a:t>
            </a:r>
          </a:p>
        </p:txBody>
      </p:sp>
      <p:sp>
        <p:nvSpPr>
          <p:cNvPr id="29" name="Rounded Rectangle 28"/>
          <p:cNvSpPr/>
          <p:nvPr/>
        </p:nvSpPr>
        <p:spPr>
          <a:xfrm>
            <a:off x="2286000" y="4434840"/>
            <a:ext cx="2103120" cy="384048"/>
          </a:xfrm>
          <a:prstGeom prst="roundRect">
            <a:avLst>
              <a:gd name="adj" fmla="val 4500"/>
            </a:avLst>
          </a:prstGeom>
          <a:solidFill>
            <a:srgbClr val="161E31"/>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414016" y="4480560"/>
            <a:ext cx="1920240" cy="310896"/>
          </a:xfrm>
          <a:prstGeom prst="rect">
            <a:avLst/>
          </a:prstGeom>
          <a:noFill/>
        </p:spPr>
        <p:txBody>
          <a:bodyPr wrap="square" anchor="t" lIns="0" rIns="0" tIns="0" bIns="0">
            <a:spAutoFit/>
          </a:bodyPr>
          <a:lstStyle/>
          <a:p>
            <a:pPr algn="l">
              <a:spcAft>
                <a:spcPts val="100"/>
              </a:spcAft>
            </a:pPr>
            <a:r>
              <a:rPr sz="950" b="1">
                <a:solidFill>
                  <a:srgbClr val="E9EDF7"/>
                </a:solidFill>
                <a:latin typeface="Segoe UI Semibold"/>
              </a:rPr>
              <a:t>5 · Reassemble</a:t>
            </a:r>
          </a:p>
          <a:p>
            <a:pPr algn="l">
              <a:spcAft>
                <a:spcPts val="0"/>
              </a:spcAft>
            </a:pPr>
            <a:r>
              <a:rPr sz="750" b="0">
                <a:solidFill>
                  <a:srgbClr val="8B95B3"/>
                </a:solidFill>
                <a:latin typeface="Segoe UI"/>
              </a:rPr>
              <a:t>answers in the right order</a:t>
            </a:r>
          </a:p>
        </p:txBody>
      </p:sp>
      <p:sp>
        <p:nvSpPr>
          <p:cNvPr id="31" name="Rounded Rectangle 30"/>
          <p:cNvSpPr/>
          <p:nvPr/>
        </p:nvSpPr>
        <p:spPr>
          <a:xfrm>
            <a:off x="4526280" y="4434840"/>
            <a:ext cx="2103120" cy="384048"/>
          </a:xfrm>
          <a:prstGeom prst="roundRect">
            <a:avLst>
              <a:gd name="adj" fmla="val 4500"/>
            </a:avLst>
          </a:prstGeom>
          <a:solidFill>
            <a:srgbClr val="161E31"/>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654296" y="4480560"/>
            <a:ext cx="1920240" cy="310896"/>
          </a:xfrm>
          <a:prstGeom prst="rect">
            <a:avLst/>
          </a:prstGeom>
          <a:noFill/>
        </p:spPr>
        <p:txBody>
          <a:bodyPr wrap="square" anchor="t" lIns="0" rIns="0" tIns="0" bIns="0">
            <a:spAutoFit/>
          </a:bodyPr>
          <a:lstStyle/>
          <a:p>
            <a:pPr algn="l">
              <a:spcAft>
                <a:spcPts val="100"/>
              </a:spcAft>
            </a:pPr>
            <a:r>
              <a:rPr sz="950" b="1">
                <a:solidFill>
                  <a:srgbClr val="E9EDF7"/>
                </a:solidFill>
                <a:latin typeface="Segoe UI Semibold"/>
              </a:rPr>
              <a:t>6 · Pay out</a:t>
            </a:r>
          </a:p>
          <a:p>
            <a:pPr algn="l">
              <a:spcAft>
                <a:spcPts val="0"/>
              </a:spcAft>
            </a:pPr>
            <a:r>
              <a:rPr sz="750" b="0">
                <a:solidFill>
                  <a:srgbClr val="8B95B3"/>
                </a:solidFill>
                <a:latin typeface="Segoe UI"/>
              </a:rPr>
              <a:t>credits to each phone that helped</a:t>
            </a:r>
          </a:p>
        </p:txBody>
      </p:sp>
      <p:sp>
        <p:nvSpPr>
          <p:cNvPr id="33" name="Rounded Rectangle 32"/>
          <p:cNvSpPr/>
          <p:nvPr/>
        </p:nvSpPr>
        <p:spPr>
          <a:xfrm>
            <a:off x="7818120" y="2304288"/>
            <a:ext cx="1783080" cy="777240"/>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936992" y="2386584"/>
            <a:ext cx="1600200" cy="640080"/>
          </a:xfrm>
          <a:prstGeom prst="rect">
            <a:avLst/>
          </a:prstGeom>
          <a:noFill/>
        </p:spPr>
        <p:txBody>
          <a:bodyPr wrap="square" anchor="t" lIns="0" rIns="0" tIns="0" bIns="0">
            <a:spAutoFit/>
          </a:bodyPr>
          <a:lstStyle/>
          <a:p>
            <a:pPr algn="l">
              <a:spcAft>
                <a:spcPts val="300"/>
              </a:spcAft>
            </a:pPr>
            <a:r>
              <a:rPr sz="1000" b="1">
                <a:solidFill>
                  <a:srgbClr val="E9EDF7"/>
                </a:solidFill>
                <a:latin typeface="Segoe UI Semibold"/>
              </a:rPr>
              <a:t>Phone 2</a:t>
            </a:r>
          </a:p>
        </p:txBody>
      </p:sp>
      <p:sp>
        <p:nvSpPr>
          <p:cNvPr id="35" name="Rectangle 34"/>
          <p:cNvSpPr/>
          <p:nvPr/>
        </p:nvSpPr>
        <p:spPr>
          <a:xfrm>
            <a:off x="7936992" y="2615184"/>
            <a:ext cx="868680" cy="155448"/>
          </a:xfrm>
          <a:prstGeom prst="rect">
            <a:avLst/>
          </a:prstGeom>
          <a:solidFill>
            <a:srgbClr val="1B4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01000" y="2633472"/>
            <a:ext cx="822960" cy="128016"/>
          </a:xfrm>
          <a:prstGeom prst="rect">
            <a:avLst/>
          </a:prstGeom>
          <a:noFill/>
        </p:spPr>
        <p:txBody>
          <a:bodyPr wrap="square" anchor="t" lIns="0" rIns="0" tIns="0" bIns="0">
            <a:spAutoFit/>
          </a:bodyPr>
          <a:lstStyle/>
          <a:p>
            <a:pPr algn="l">
              <a:spcAft>
                <a:spcPts val="0"/>
              </a:spcAft>
            </a:pPr>
            <a:r>
              <a:rPr sz="700" b="0">
                <a:solidFill>
                  <a:srgbClr val="E9EDF7"/>
                </a:solidFill>
                <a:latin typeface="Consolas"/>
              </a:rPr>
              <a:t>NPU · strong</a:t>
            </a:r>
          </a:p>
        </p:txBody>
      </p:sp>
      <p:sp>
        <p:nvSpPr>
          <p:cNvPr id="37" name="TextBox 36"/>
          <p:cNvSpPr txBox="1"/>
          <p:nvPr/>
        </p:nvSpPr>
        <p:spPr>
          <a:xfrm>
            <a:off x="7936992" y="2834640"/>
            <a:ext cx="1600200" cy="146304"/>
          </a:xfrm>
          <a:prstGeom prst="rect">
            <a:avLst/>
          </a:prstGeom>
          <a:noFill/>
        </p:spPr>
        <p:txBody>
          <a:bodyPr wrap="square" anchor="t" lIns="0" rIns="0" tIns="0" bIns="0">
            <a:spAutoFit/>
          </a:bodyPr>
          <a:lstStyle/>
          <a:p>
            <a:pPr algn="l">
              <a:spcAft>
                <a:spcPts val="0"/>
              </a:spcAft>
            </a:pPr>
            <a:r>
              <a:rPr sz="750" b="0">
                <a:solidFill>
                  <a:srgbClr val="8B95B3"/>
                </a:solidFill>
                <a:latin typeface="Segoe UI"/>
              </a:rPr>
              <a:t>4 · runs the slice</a:t>
            </a:r>
          </a:p>
        </p:txBody>
      </p:sp>
      <p:sp>
        <p:nvSpPr>
          <p:cNvPr id="38" name="Rounded Rectangle 37"/>
          <p:cNvSpPr/>
          <p:nvPr/>
        </p:nvSpPr>
        <p:spPr>
          <a:xfrm>
            <a:off x="7818120" y="3218688"/>
            <a:ext cx="1783080" cy="777240"/>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936992" y="3300984"/>
            <a:ext cx="1600200" cy="640080"/>
          </a:xfrm>
          <a:prstGeom prst="rect">
            <a:avLst/>
          </a:prstGeom>
          <a:noFill/>
        </p:spPr>
        <p:txBody>
          <a:bodyPr wrap="square" anchor="t" lIns="0" rIns="0" tIns="0" bIns="0">
            <a:spAutoFit/>
          </a:bodyPr>
          <a:lstStyle/>
          <a:p>
            <a:pPr algn="l">
              <a:spcAft>
                <a:spcPts val="300"/>
              </a:spcAft>
            </a:pPr>
            <a:r>
              <a:rPr sz="1000" b="1">
                <a:solidFill>
                  <a:srgbClr val="E9EDF7"/>
                </a:solidFill>
                <a:latin typeface="Segoe UI Semibold"/>
              </a:rPr>
              <a:t>Phone 3</a:t>
            </a:r>
          </a:p>
        </p:txBody>
      </p:sp>
      <p:sp>
        <p:nvSpPr>
          <p:cNvPr id="40" name="Rectangle 39"/>
          <p:cNvSpPr/>
          <p:nvPr/>
        </p:nvSpPr>
        <p:spPr>
          <a:xfrm>
            <a:off x="7936992" y="3529584"/>
            <a:ext cx="868680" cy="155448"/>
          </a:xfrm>
          <a:prstGeom prst="rect">
            <a:avLst/>
          </a:prstGeom>
          <a:solidFill>
            <a:srgbClr val="1B4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01000" y="3547872"/>
            <a:ext cx="822960" cy="128016"/>
          </a:xfrm>
          <a:prstGeom prst="rect">
            <a:avLst/>
          </a:prstGeom>
          <a:noFill/>
        </p:spPr>
        <p:txBody>
          <a:bodyPr wrap="square" anchor="t" lIns="0" rIns="0" tIns="0" bIns="0">
            <a:spAutoFit/>
          </a:bodyPr>
          <a:lstStyle/>
          <a:p>
            <a:pPr algn="l">
              <a:spcAft>
                <a:spcPts val="0"/>
              </a:spcAft>
            </a:pPr>
            <a:r>
              <a:rPr sz="700" b="0">
                <a:solidFill>
                  <a:srgbClr val="E9EDF7"/>
                </a:solidFill>
                <a:latin typeface="Consolas"/>
              </a:rPr>
              <a:t>NPU · strong</a:t>
            </a:r>
          </a:p>
        </p:txBody>
      </p:sp>
      <p:sp>
        <p:nvSpPr>
          <p:cNvPr id="42" name="TextBox 41"/>
          <p:cNvSpPr txBox="1"/>
          <p:nvPr/>
        </p:nvSpPr>
        <p:spPr>
          <a:xfrm>
            <a:off x="7936992" y="3749039"/>
            <a:ext cx="1600200" cy="146304"/>
          </a:xfrm>
          <a:prstGeom prst="rect">
            <a:avLst/>
          </a:prstGeom>
          <a:noFill/>
        </p:spPr>
        <p:txBody>
          <a:bodyPr wrap="square" anchor="t" lIns="0" rIns="0" tIns="0" bIns="0">
            <a:spAutoFit/>
          </a:bodyPr>
          <a:lstStyle/>
          <a:p>
            <a:pPr algn="l">
              <a:spcAft>
                <a:spcPts val="0"/>
              </a:spcAft>
            </a:pPr>
            <a:r>
              <a:rPr sz="750" b="0">
                <a:solidFill>
                  <a:srgbClr val="8B95B3"/>
                </a:solidFill>
                <a:latin typeface="Segoe UI"/>
              </a:rPr>
              <a:t>4 · runs the slice</a:t>
            </a:r>
          </a:p>
        </p:txBody>
      </p:sp>
      <p:sp>
        <p:nvSpPr>
          <p:cNvPr id="43" name="Rounded Rectangle 42"/>
          <p:cNvSpPr/>
          <p:nvPr/>
        </p:nvSpPr>
        <p:spPr>
          <a:xfrm>
            <a:off x="7818120" y="4133087"/>
            <a:ext cx="1783080" cy="777240"/>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936992" y="4215383"/>
            <a:ext cx="1600200" cy="640080"/>
          </a:xfrm>
          <a:prstGeom prst="rect">
            <a:avLst/>
          </a:prstGeom>
          <a:noFill/>
        </p:spPr>
        <p:txBody>
          <a:bodyPr wrap="square" anchor="t" lIns="0" rIns="0" tIns="0" bIns="0">
            <a:spAutoFit/>
          </a:bodyPr>
          <a:lstStyle/>
          <a:p>
            <a:pPr algn="l">
              <a:spcAft>
                <a:spcPts val="300"/>
              </a:spcAft>
            </a:pPr>
            <a:r>
              <a:rPr sz="1000" b="1">
                <a:solidFill>
                  <a:srgbClr val="E9EDF7"/>
                </a:solidFill>
                <a:latin typeface="Segoe UI Semibold"/>
              </a:rPr>
              <a:t>Phone 4</a:t>
            </a:r>
          </a:p>
        </p:txBody>
      </p:sp>
      <p:sp>
        <p:nvSpPr>
          <p:cNvPr id="45" name="Rectangle 44"/>
          <p:cNvSpPr/>
          <p:nvPr/>
        </p:nvSpPr>
        <p:spPr>
          <a:xfrm>
            <a:off x="7936992" y="4443983"/>
            <a:ext cx="868680" cy="155448"/>
          </a:xfrm>
          <a:prstGeom prst="rect">
            <a:avLst/>
          </a:prstGeom>
          <a:solidFill>
            <a:srgbClr val="243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001000" y="4462272"/>
            <a:ext cx="822960" cy="128016"/>
          </a:xfrm>
          <a:prstGeom prst="rect">
            <a:avLst/>
          </a:prstGeom>
          <a:noFill/>
        </p:spPr>
        <p:txBody>
          <a:bodyPr wrap="square" anchor="t" lIns="0" rIns="0" tIns="0" bIns="0">
            <a:spAutoFit/>
          </a:bodyPr>
          <a:lstStyle/>
          <a:p>
            <a:pPr algn="l">
              <a:spcAft>
                <a:spcPts val="0"/>
              </a:spcAft>
            </a:pPr>
            <a:r>
              <a:rPr sz="700" b="0">
                <a:solidFill>
                  <a:srgbClr val="E9EDF7"/>
                </a:solidFill>
                <a:latin typeface="Consolas"/>
              </a:rPr>
              <a:t>graphics chip</a:t>
            </a:r>
          </a:p>
        </p:txBody>
      </p:sp>
      <p:sp>
        <p:nvSpPr>
          <p:cNvPr id="47" name="TextBox 46"/>
          <p:cNvSpPr txBox="1"/>
          <p:nvPr/>
        </p:nvSpPr>
        <p:spPr>
          <a:xfrm>
            <a:off x="7936992" y="4663440"/>
            <a:ext cx="1600200" cy="146304"/>
          </a:xfrm>
          <a:prstGeom prst="rect">
            <a:avLst/>
          </a:prstGeom>
          <a:noFill/>
        </p:spPr>
        <p:txBody>
          <a:bodyPr wrap="square" anchor="t" lIns="0" rIns="0" tIns="0" bIns="0">
            <a:spAutoFit/>
          </a:bodyPr>
          <a:lstStyle/>
          <a:p>
            <a:pPr algn="l">
              <a:spcAft>
                <a:spcPts val="0"/>
              </a:spcAft>
            </a:pPr>
            <a:r>
              <a:rPr sz="750" b="0">
                <a:solidFill>
                  <a:srgbClr val="8B95B3"/>
                </a:solidFill>
                <a:latin typeface="Segoe UI"/>
              </a:rPr>
              <a:t>backup path</a:t>
            </a:r>
          </a:p>
        </p:txBody>
      </p:sp>
      <p:cxnSp>
        <p:nvCxnSpPr>
          <p:cNvPr id="48" name="Connector 47"/>
          <p:cNvCxnSpPr/>
          <p:nvPr/>
        </p:nvCxnSpPr>
        <p:spPr>
          <a:xfrm flipV="1">
            <a:off x="1874519" y="2779776"/>
            <a:ext cx="393193" cy="530352"/>
          </a:xfrm>
          <a:prstGeom prst="line">
            <a:avLst/>
          </a:prstGeom>
          <a:ln w="12700">
            <a:solidFill>
              <a:srgbClr val="8B95B3"/>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1783080" y="2487168"/>
            <a:ext cx="1188720" cy="146304"/>
          </a:xfrm>
          <a:prstGeom prst="rect">
            <a:avLst/>
          </a:prstGeom>
          <a:noFill/>
        </p:spPr>
        <p:txBody>
          <a:bodyPr wrap="square" anchor="t" lIns="0" rIns="0" tIns="0" bIns="0">
            <a:spAutoFit/>
          </a:bodyPr>
          <a:lstStyle/>
          <a:p>
            <a:pPr algn="l">
              <a:spcAft>
                <a:spcPts val="0"/>
              </a:spcAft>
            </a:pPr>
            <a:r>
              <a:rPr sz="750" b="0">
                <a:solidFill>
                  <a:srgbClr val="8B95B3"/>
                </a:solidFill>
                <a:latin typeface="Consolas"/>
              </a:rPr>
              <a:t>"here is my job"</a:t>
            </a:r>
          </a:p>
        </p:txBody>
      </p:sp>
      <p:cxnSp>
        <p:nvCxnSpPr>
          <p:cNvPr id="50" name="Connector 49"/>
          <p:cNvCxnSpPr/>
          <p:nvPr/>
        </p:nvCxnSpPr>
        <p:spPr>
          <a:xfrm flipH="1" flipV="1">
            <a:off x="1892807" y="3785615"/>
            <a:ext cx="374905" cy="301753"/>
          </a:xfrm>
          <a:prstGeom prst="line">
            <a:avLst/>
          </a:prstGeom>
          <a:ln w="12700">
            <a:solidFill>
              <a:srgbClr val="8AA5F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66928" y="4315968"/>
            <a:ext cx="1463040" cy="292608"/>
          </a:xfrm>
          <a:prstGeom prst="rect">
            <a:avLst/>
          </a:prstGeom>
          <a:noFill/>
        </p:spPr>
        <p:txBody>
          <a:bodyPr wrap="square" anchor="t" lIns="0" rIns="0" tIns="0" bIns="0">
            <a:spAutoFit/>
          </a:bodyPr>
          <a:lstStyle/>
          <a:p>
            <a:pPr algn="l">
              <a:spcAft>
                <a:spcPts val="0"/>
              </a:spcAft>
            </a:pPr>
            <a:r>
              <a:rPr sz="750" b="0">
                <a:solidFill>
                  <a:srgbClr val="8AA5FF"/>
                </a:solidFill>
                <a:latin typeface="Consolas"/>
              </a:rPr>
              <a:t>live progress feed</a:t>
            </a:r>
          </a:p>
          <a:p>
            <a:pPr algn="l">
              <a:spcAft>
                <a:spcPts val="0"/>
              </a:spcAft>
            </a:pPr>
            <a:r>
              <a:rPr sz="750" b="0">
                <a:solidFill>
                  <a:srgbClr val="8B95B3"/>
                </a:solidFill>
                <a:latin typeface="Consolas"/>
              </a:rPr>
              <a:t>(no private data)</a:t>
            </a:r>
          </a:p>
        </p:txBody>
      </p:sp>
      <p:cxnSp>
        <p:nvCxnSpPr>
          <p:cNvPr id="52" name="Connector 51"/>
          <p:cNvCxnSpPr/>
          <p:nvPr/>
        </p:nvCxnSpPr>
        <p:spPr>
          <a:xfrm flipV="1">
            <a:off x="6784848" y="2670048"/>
            <a:ext cx="987552" cy="1417320"/>
          </a:xfrm>
          <a:prstGeom prst="line">
            <a:avLst/>
          </a:prstGeom>
          <a:ln w="12700">
            <a:solidFill>
              <a:srgbClr val="4FE0B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6784848" y="3584448"/>
            <a:ext cx="987552" cy="502920"/>
          </a:xfrm>
          <a:prstGeom prst="line">
            <a:avLst/>
          </a:prstGeom>
          <a:ln w="12700">
            <a:solidFill>
              <a:srgbClr val="4FE0B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784848" y="4087368"/>
            <a:ext cx="987552" cy="411480"/>
          </a:xfrm>
          <a:prstGeom prst="line">
            <a:avLst/>
          </a:prstGeom>
          <a:ln w="12700">
            <a:solidFill>
              <a:srgbClr val="4FE0BC"/>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839712" y="3172968"/>
            <a:ext cx="1005840" cy="274320"/>
          </a:xfrm>
          <a:prstGeom prst="rect">
            <a:avLst/>
          </a:prstGeom>
          <a:noFill/>
        </p:spPr>
        <p:txBody>
          <a:bodyPr wrap="square" anchor="t" lIns="0" rIns="0" tIns="0" bIns="0">
            <a:spAutoFit/>
          </a:bodyPr>
          <a:lstStyle/>
          <a:p>
            <a:pPr algn="l">
              <a:spcAft>
                <a:spcPts val="0"/>
              </a:spcAft>
            </a:pPr>
            <a:r>
              <a:rPr sz="750" b="0">
                <a:solidFill>
                  <a:srgbClr val="4FE0BC"/>
                </a:solidFill>
                <a:latin typeface="Consolas"/>
              </a:rPr>
              <a:t>one slice</a:t>
            </a:r>
          </a:p>
          <a:p>
            <a:pPr algn="l">
              <a:spcAft>
                <a:spcPts val="0"/>
              </a:spcAft>
            </a:pPr>
            <a:r>
              <a:rPr sz="750" b="0">
                <a:solidFill>
                  <a:srgbClr val="4FE0BC"/>
                </a:solidFill>
                <a:latin typeface="Consolas"/>
              </a:rPr>
              <a:t>+ 30s hold</a:t>
            </a:r>
          </a:p>
        </p:txBody>
      </p:sp>
      <p:cxnSp>
        <p:nvCxnSpPr>
          <p:cNvPr id="56" name="Connector 55"/>
          <p:cNvCxnSpPr/>
          <p:nvPr/>
        </p:nvCxnSpPr>
        <p:spPr>
          <a:xfrm flipH="1">
            <a:off x="6675120" y="3081528"/>
            <a:ext cx="1097280" cy="1508760"/>
          </a:xfrm>
          <a:prstGeom prst="line">
            <a:avLst/>
          </a:prstGeom>
          <a:ln w="11430">
            <a:solidFill>
              <a:srgbClr val="8B95B3"/>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903720" y="4608576"/>
            <a:ext cx="1371600" cy="146304"/>
          </a:xfrm>
          <a:prstGeom prst="rect">
            <a:avLst/>
          </a:prstGeom>
          <a:noFill/>
        </p:spPr>
        <p:txBody>
          <a:bodyPr wrap="square" anchor="t" lIns="0" rIns="0" tIns="0" bIns="0">
            <a:spAutoFit/>
          </a:bodyPr>
          <a:lstStyle/>
          <a:p>
            <a:pPr algn="l">
              <a:spcAft>
                <a:spcPts val="0"/>
              </a:spcAft>
            </a:pPr>
            <a:r>
              <a:rPr sz="750" b="0">
                <a:solidFill>
                  <a:srgbClr val="8B95B3"/>
                </a:solidFill>
                <a:latin typeface="Segoe UI"/>
              </a:rPr>
              <a:t>answer comes back</a:t>
            </a:r>
          </a:p>
        </p:txBody>
      </p:sp>
      <p:cxnSp>
        <p:nvCxnSpPr>
          <p:cNvPr id="58" name="Connector 57"/>
          <p:cNvCxnSpPr/>
          <p:nvPr/>
        </p:nvCxnSpPr>
        <p:spPr>
          <a:xfrm>
            <a:off x="9646920" y="2670048"/>
            <a:ext cx="0" cy="1783080"/>
          </a:xfrm>
          <a:prstGeom prst="line">
            <a:avLst/>
          </a:prstGeom>
          <a:ln w="12700">
            <a:solidFill>
              <a:srgbClr val="FF8474"/>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9784080" y="3081528"/>
            <a:ext cx="1828800" cy="566928"/>
          </a:xfrm>
          <a:prstGeom prst="rect">
            <a:avLst/>
          </a:prstGeom>
          <a:noFill/>
        </p:spPr>
        <p:txBody>
          <a:bodyPr wrap="square" anchor="t" lIns="0" rIns="0" tIns="0" bIns="0">
            <a:spAutoFit/>
          </a:bodyPr>
          <a:lstStyle/>
          <a:p>
            <a:pPr algn="l">
              <a:spcAft>
                <a:spcPts val="0"/>
              </a:spcAft>
            </a:pPr>
            <a:r>
              <a:rPr sz="800" b="0">
                <a:solidFill>
                  <a:srgbClr val="FF8474"/>
                </a:solidFill>
                <a:latin typeface="Consolas"/>
              </a:rPr>
              <a:t>phone vanished?</a:t>
            </a:r>
          </a:p>
          <a:p>
            <a:pPr algn="l">
              <a:spcAft>
                <a:spcPts val="300"/>
              </a:spcAft>
            </a:pPr>
            <a:r>
              <a:rPr sz="800" b="0">
                <a:solidFill>
                  <a:srgbClr val="FF8474"/>
                </a:solidFill>
                <a:latin typeface="Consolas"/>
              </a:rPr>
              <a:t>the hold expires</a:t>
            </a:r>
          </a:p>
          <a:p>
            <a:pPr algn="l">
              <a:spcAft>
                <a:spcPts val="0"/>
              </a:spcAft>
            </a:pPr>
            <a:r>
              <a:rPr sz="800" b="0">
                <a:solidFill>
                  <a:srgbClr val="8B95B3"/>
                </a:solidFill>
                <a:latin typeface="Segoe UI"/>
              </a:rPr>
              <a:t>→ slice goes back</a:t>
            </a:r>
          </a:p>
          <a:p>
            <a:pPr algn="l">
              <a:spcAft>
                <a:spcPts val="0"/>
              </a:spcAft>
            </a:pPr>
            <a:r>
              <a:rPr sz="800" b="0">
                <a:solidFill>
                  <a:srgbClr val="8B95B3"/>
                </a:solidFill>
                <a:latin typeface="Segoe UI"/>
              </a:rPr>
              <a:t>→ that phone earns 0</a:t>
            </a:r>
          </a:p>
        </p:txBody>
      </p:sp>
      <p:sp>
        <p:nvSpPr>
          <p:cNvPr id="60" name="Rounded Rectangle 59"/>
          <p:cNvSpPr/>
          <p:nvPr/>
        </p:nvSpPr>
        <p:spPr>
          <a:xfrm>
            <a:off x="502920" y="5138928"/>
            <a:ext cx="2693593" cy="1417320"/>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649224" y="5285232"/>
            <a:ext cx="2400985" cy="164592"/>
          </a:xfrm>
          <a:prstGeom prst="rect">
            <a:avLst/>
          </a:prstGeom>
          <a:noFill/>
        </p:spPr>
        <p:txBody>
          <a:bodyPr wrap="square" anchor="t" lIns="0" rIns="0" tIns="0" bIns="0">
            <a:spAutoFit/>
          </a:bodyPr>
          <a:lstStyle/>
          <a:p>
            <a:pPr algn="l">
              <a:spcAft>
                <a:spcPts val="0"/>
              </a:spcAft>
            </a:pPr>
            <a:r>
              <a:rPr sz="750" b="0" spc="130">
                <a:solidFill>
                  <a:srgbClr val="8B95B3"/>
                </a:solidFill>
                <a:latin typeface="Consolas"/>
              </a:rPr>
              <a:t>TWO KINDS OF MEMORY</a:t>
            </a:r>
          </a:p>
        </p:txBody>
      </p:sp>
      <p:sp>
        <p:nvSpPr>
          <p:cNvPr id="62" name="TextBox 61"/>
          <p:cNvSpPr txBox="1"/>
          <p:nvPr/>
        </p:nvSpPr>
        <p:spPr>
          <a:xfrm>
            <a:off x="649224" y="5522976"/>
            <a:ext cx="2400985" cy="310896"/>
          </a:xfrm>
          <a:prstGeom prst="rect">
            <a:avLst/>
          </a:prstGeom>
          <a:noFill/>
        </p:spPr>
        <p:txBody>
          <a:bodyPr wrap="square" anchor="t" lIns="0" rIns="0" tIns="0" bIns="0">
            <a:spAutoFit/>
          </a:bodyPr>
          <a:lstStyle/>
          <a:p>
            <a:pPr algn="l">
              <a:lnSpc>
                <a:spcPct val="122000"/>
              </a:lnSpc>
              <a:spcAft>
                <a:spcPts val="0"/>
              </a:spcAft>
            </a:pPr>
            <a:r>
              <a:rPr sz="900" b="0">
                <a:solidFill>
                  <a:srgbClr val="8B95B3"/>
                </a:solidFill>
                <a:latin typeface="Segoe UI"/>
              </a:rPr>
              <a:t>A fast temporary store holds live work. A permanent database holds accounts and money.</a:t>
            </a:r>
          </a:p>
        </p:txBody>
      </p:sp>
      <p:sp>
        <p:nvSpPr>
          <p:cNvPr id="63" name="Rectangle 62"/>
          <p:cNvSpPr/>
          <p:nvPr/>
        </p:nvSpPr>
        <p:spPr>
          <a:xfrm>
            <a:off x="649224" y="6025896"/>
            <a:ext cx="20116" cy="365760"/>
          </a:xfrm>
          <a:prstGeom prst="rect">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49808" y="6025896"/>
            <a:ext cx="2300401" cy="365760"/>
          </a:xfrm>
          <a:prstGeom prst="rect">
            <a:avLst/>
          </a:prstGeom>
          <a:noFill/>
        </p:spPr>
        <p:txBody>
          <a:bodyPr wrap="square" anchor="t" lIns="0" rIns="0" tIns="0" bIns="0">
            <a:spAutoFit/>
          </a:bodyPr>
          <a:lstStyle/>
          <a:p>
            <a:pPr algn="l">
              <a:spcAft>
                <a:spcPts val="100"/>
              </a:spcAft>
            </a:pPr>
            <a:r>
              <a:rPr sz="650" b="1" spc="130">
                <a:solidFill>
                  <a:srgbClr val="4FE0BC"/>
                </a:solidFill>
                <a:latin typeface="Consolas"/>
              </a:rPr>
              <a:t>PLAINLY</a:t>
            </a:r>
          </a:p>
          <a:p>
            <a:pPr algn="l">
              <a:lnSpc>
                <a:spcPct val="118000"/>
              </a:lnSpc>
              <a:spcAft>
                <a:spcPts val="0"/>
              </a:spcAft>
            </a:pPr>
            <a:r>
              <a:rPr sz="850" b="0">
                <a:solidFill>
                  <a:srgbClr val="E9EDF7"/>
                </a:solidFill>
                <a:latin typeface="Segoe UI"/>
              </a:rPr>
              <a:t>A whiteboard for today, a ledger book for the year.</a:t>
            </a:r>
          </a:p>
        </p:txBody>
      </p:sp>
      <p:sp>
        <p:nvSpPr>
          <p:cNvPr id="65" name="Rounded Rectangle 64"/>
          <p:cNvSpPr/>
          <p:nvPr/>
        </p:nvSpPr>
        <p:spPr>
          <a:xfrm>
            <a:off x="3333673" y="5138928"/>
            <a:ext cx="2693593" cy="1417320"/>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3479977" y="5285232"/>
            <a:ext cx="2400985" cy="164592"/>
          </a:xfrm>
          <a:prstGeom prst="rect">
            <a:avLst/>
          </a:prstGeom>
          <a:noFill/>
        </p:spPr>
        <p:txBody>
          <a:bodyPr wrap="square" anchor="t" lIns="0" rIns="0" tIns="0" bIns="0">
            <a:spAutoFit/>
          </a:bodyPr>
          <a:lstStyle/>
          <a:p>
            <a:pPr algn="l">
              <a:spcAft>
                <a:spcPts val="0"/>
              </a:spcAft>
            </a:pPr>
            <a:r>
              <a:rPr sz="750" b="0" spc="130">
                <a:solidFill>
                  <a:srgbClr val="8B95B3"/>
                </a:solidFill>
                <a:latin typeface="Consolas"/>
              </a:rPr>
              <a:t>RESERVATIONS, NOT TRUST</a:t>
            </a:r>
          </a:p>
        </p:txBody>
      </p:sp>
      <p:sp>
        <p:nvSpPr>
          <p:cNvPr id="67" name="TextBox 66"/>
          <p:cNvSpPr txBox="1"/>
          <p:nvPr/>
        </p:nvSpPr>
        <p:spPr>
          <a:xfrm>
            <a:off x="3479977" y="5522976"/>
            <a:ext cx="2400985" cy="310896"/>
          </a:xfrm>
          <a:prstGeom prst="rect">
            <a:avLst/>
          </a:prstGeom>
          <a:noFill/>
        </p:spPr>
        <p:txBody>
          <a:bodyPr wrap="square" anchor="t" lIns="0" rIns="0" tIns="0" bIns="0">
            <a:spAutoFit/>
          </a:bodyPr>
          <a:lstStyle/>
          <a:p>
            <a:pPr algn="l">
              <a:lnSpc>
                <a:spcPct val="122000"/>
              </a:lnSpc>
              <a:spcAft>
                <a:spcPts val="0"/>
              </a:spcAft>
            </a:pPr>
            <a:r>
              <a:rPr sz="900" b="0">
                <a:solidFill>
                  <a:srgbClr val="8B95B3"/>
                </a:solidFill>
                <a:latin typeface="Segoe UI"/>
              </a:rPr>
              <a:t>Each slice is held for 30 seconds. A watchdog puts expired holds straight back in the queue.</a:t>
            </a:r>
          </a:p>
        </p:txBody>
      </p:sp>
      <p:sp>
        <p:nvSpPr>
          <p:cNvPr id="68" name="Rectangle 67"/>
          <p:cNvSpPr/>
          <p:nvPr/>
        </p:nvSpPr>
        <p:spPr>
          <a:xfrm>
            <a:off x="3479977" y="6025896"/>
            <a:ext cx="20116" cy="365760"/>
          </a:xfrm>
          <a:prstGeom prst="rect">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580561" y="6025896"/>
            <a:ext cx="2300401" cy="365760"/>
          </a:xfrm>
          <a:prstGeom prst="rect">
            <a:avLst/>
          </a:prstGeom>
          <a:noFill/>
        </p:spPr>
        <p:txBody>
          <a:bodyPr wrap="square" anchor="t" lIns="0" rIns="0" tIns="0" bIns="0">
            <a:spAutoFit/>
          </a:bodyPr>
          <a:lstStyle/>
          <a:p>
            <a:pPr algn="l">
              <a:spcAft>
                <a:spcPts val="100"/>
              </a:spcAft>
            </a:pPr>
            <a:r>
              <a:rPr sz="650" b="1" spc="130">
                <a:solidFill>
                  <a:srgbClr val="4FE0BC"/>
                </a:solidFill>
                <a:latin typeface="Consolas"/>
              </a:rPr>
              <a:t>PLAINLY</a:t>
            </a:r>
          </a:p>
          <a:p>
            <a:pPr algn="l">
              <a:lnSpc>
                <a:spcPct val="118000"/>
              </a:lnSpc>
              <a:spcAft>
                <a:spcPts val="0"/>
              </a:spcAft>
            </a:pPr>
            <a:r>
              <a:rPr sz="850" b="0">
                <a:solidFill>
                  <a:srgbClr val="E9EDF7"/>
                </a:solidFill>
                <a:latin typeface="Segoe UI"/>
              </a:rPr>
              <a:t>Quiet for 30 seconds? We assume the worst.</a:t>
            </a:r>
          </a:p>
        </p:txBody>
      </p:sp>
      <p:sp>
        <p:nvSpPr>
          <p:cNvPr id="70" name="Rounded Rectangle 69"/>
          <p:cNvSpPr/>
          <p:nvPr/>
        </p:nvSpPr>
        <p:spPr>
          <a:xfrm>
            <a:off x="6164427" y="5138928"/>
            <a:ext cx="2693593" cy="1417320"/>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TextBox 70"/>
          <p:cNvSpPr txBox="1"/>
          <p:nvPr/>
        </p:nvSpPr>
        <p:spPr>
          <a:xfrm>
            <a:off x="6310731" y="5285232"/>
            <a:ext cx="2400985" cy="164592"/>
          </a:xfrm>
          <a:prstGeom prst="rect">
            <a:avLst/>
          </a:prstGeom>
          <a:noFill/>
        </p:spPr>
        <p:txBody>
          <a:bodyPr wrap="square" anchor="t" lIns="0" rIns="0" tIns="0" bIns="0">
            <a:spAutoFit/>
          </a:bodyPr>
          <a:lstStyle/>
          <a:p>
            <a:pPr algn="l">
              <a:spcAft>
                <a:spcPts val="0"/>
              </a:spcAft>
            </a:pPr>
            <a:r>
              <a:rPr sz="750" b="0" spc="130">
                <a:solidFill>
                  <a:srgbClr val="8B95B3"/>
                </a:solidFill>
                <a:latin typeface="Consolas"/>
              </a:rPr>
              <a:t>THE MONEY CAN'T DRIFT</a:t>
            </a:r>
          </a:p>
        </p:txBody>
      </p:sp>
      <p:sp>
        <p:nvSpPr>
          <p:cNvPr id="72" name="TextBox 71"/>
          <p:cNvSpPr txBox="1"/>
          <p:nvPr/>
        </p:nvSpPr>
        <p:spPr>
          <a:xfrm>
            <a:off x="6310731" y="5522976"/>
            <a:ext cx="2400985" cy="310896"/>
          </a:xfrm>
          <a:prstGeom prst="rect">
            <a:avLst/>
          </a:prstGeom>
          <a:noFill/>
        </p:spPr>
        <p:txBody>
          <a:bodyPr wrap="square" anchor="t" lIns="0" rIns="0" tIns="0" bIns="0">
            <a:spAutoFit/>
          </a:bodyPr>
          <a:lstStyle/>
          <a:p>
            <a:pPr algn="l">
              <a:lnSpc>
                <a:spcPct val="122000"/>
              </a:lnSpc>
              <a:spcAft>
                <a:spcPts val="0"/>
              </a:spcAft>
            </a:pPr>
            <a:r>
              <a:rPr sz="900" b="0">
                <a:solidFill>
                  <a:srgbClr val="8B95B3"/>
                </a:solidFill>
                <a:latin typeface="Segoe UI"/>
              </a:rPr>
              <a:t>Whole numbers only. Exactly one piece of code may touch a balance, with an audit beside it.</a:t>
            </a:r>
          </a:p>
        </p:txBody>
      </p:sp>
      <p:sp>
        <p:nvSpPr>
          <p:cNvPr id="73" name="Rectangle 72"/>
          <p:cNvSpPr/>
          <p:nvPr/>
        </p:nvSpPr>
        <p:spPr>
          <a:xfrm>
            <a:off x="6310731" y="6025896"/>
            <a:ext cx="20116" cy="365760"/>
          </a:xfrm>
          <a:prstGeom prst="rect">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411315" y="6025896"/>
            <a:ext cx="2300401" cy="365760"/>
          </a:xfrm>
          <a:prstGeom prst="rect">
            <a:avLst/>
          </a:prstGeom>
          <a:noFill/>
        </p:spPr>
        <p:txBody>
          <a:bodyPr wrap="square" anchor="t" lIns="0" rIns="0" tIns="0" bIns="0">
            <a:spAutoFit/>
          </a:bodyPr>
          <a:lstStyle/>
          <a:p>
            <a:pPr algn="l">
              <a:spcAft>
                <a:spcPts val="100"/>
              </a:spcAft>
            </a:pPr>
            <a:r>
              <a:rPr sz="650" b="1" spc="130">
                <a:solidFill>
                  <a:srgbClr val="4FE0BC"/>
                </a:solidFill>
                <a:latin typeface="Consolas"/>
              </a:rPr>
              <a:t>PLAINLY</a:t>
            </a:r>
          </a:p>
          <a:p>
            <a:pPr algn="l">
              <a:lnSpc>
                <a:spcPct val="118000"/>
              </a:lnSpc>
              <a:spcAft>
                <a:spcPts val="0"/>
              </a:spcAft>
            </a:pPr>
            <a:r>
              <a:rPr sz="850" b="0">
                <a:solidFill>
                  <a:srgbClr val="E9EDF7"/>
                </a:solidFill>
                <a:latin typeface="Segoe UI"/>
              </a:rPr>
              <a:t>One cashier, one till, one audit.</a:t>
            </a:r>
          </a:p>
        </p:txBody>
      </p:sp>
      <p:sp>
        <p:nvSpPr>
          <p:cNvPr id="75" name="Rounded Rectangle 74"/>
          <p:cNvSpPr/>
          <p:nvPr/>
        </p:nvSpPr>
        <p:spPr>
          <a:xfrm>
            <a:off x="8995181" y="5138928"/>
            <a:ext cx="2693593" cy="1417320"/>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TextBox 75"/>
          <p:cNvSpPr txBox="1"/>
          <p:nvPr/>
        </p:nvSpPr>
        <p:spPr>
          <a:xfrm>
            <a:off x="9141485" y="5285232"/>
            <a:ext cx="2400985" cy="164592"/>
          </a:xfrm>
          <a:prstGeom prst="rect">
            <a:avLst/>
          </a:prstGeom>
          <a:noFill/>
        </p:spPr>
        <p:txBody>
          <a:bodyPr wrap="square" anchor="t" lIns="0" rIns="0" tIns="0" bIns="0">
            <a:spAutoFit/>
          </a:bodyPr>
          <a:lstStyle/>
          <a:p>
            <a:pPr algn="l">
              <a:spcAft>
                <a:spcPts val="0"/>
              </a:spcAft>
            </a:pPr>
            <a:r>
              <a:rPr sz="750" b="0" spc="130">
                <a:solidFill>
                  <a:srgbClr val="8B95B3"/>
                </a:solidFill>
                <a:latin typeface="Consolas"/>
              </a:rPr>
              <a:t>PRIVACY &amp; SAFETY</a:t>
            </a:r>
          </a:p>
        </p:txBody>
      </p:sp>
      <p:sp>
        <p:nvSpPr>
          <p:cNvPr id="77" name="TextBox 76"/>
          <p:cNvSpPr txBox="1"/>
          <p:nvPr/>
        </p:nvSpPr>
        <p:spPr>
          <a:xfrm>
            <a:off x="9141485" y="5522976"/>
            <a:ext cx="2400985" cy="310896"/>
          </a:xfrm>
          <a:prstGeom prst="rect">
            <a:avLst/>
          </a:prstGeom>
          <a:noFill/>
        </p:spPr>
        <p:txBody>
          <a:bodyPr wrap="square" anchor="t" lIns="0" rIns="0" tIns="0" bIns="0">
            <a:spAutoFit/>
          </a:bodyPr>
          <a:lstStyle/>
          <a:p>
            <a:pPr algn="l">
              <a:lnSpc>
                <a:spcPct val="122000"/>
              </a:lnSpc>
              <a:spcAft>
                <a:spcPts val="0"/>
              </a:spcAft>
            </a:pPr>
            <a:r>
              <a:rPr sz="900" b="0">
                <a:solidFill>
                  <a:srgbClr val="8B95B3"/>
                </a:solidFill>
                <a:latin typeface="Segoe UI"/>
              </a:rPr>
              <a:t>Data is locked until a phone holds the slice. Someone else's job returns "not found".</a:t>
            </a:r>
          </a:p>
        </p:txBody>
      </p:sp>
      <p:sp>
        <p:nvSpPr>
          <p:cNvPr id="78" name="Rectangle 77"/>
          <p:cNvSpPr/>
          <p:nvPr/>
        </p:nvSpPr>
        <p:spPr>
          <a:xfrm>
            <a:off x="9141485" y="6025896"/>
            <a:ext cx="20116" cy="365760"/>
          </a:xfrm>
          <a:prstGeom prst="rect">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242069" y="6025896"/>
            <a:ext cx="2300401" cy="365760"/>
          </a:xfrm>
          <a:prstGeom prst="rect">
            <a:avLst/>
          </a:prstGeom>
          <a:noFill/>
        </p:spPr>
        <p:txBody>
          <a:bodyPr wrap="square" anchor="t" lIns="0" rIns="0" tIns="0" bIns="0">
            <a:spAutoFit/>
          </a:bodyPr>
          <a:lstStyle/>
          <a:p>
            <a:pPr algn="l">
              <a:spcAft>
                <a:spcPts val="100"/>
              </a:spcAft>
            </a:pPr>
            <a:r>
              <a:rPr sz="650" b="1" spc="130">
                <a:solidFill>
                  <a:srgbClr val="4FE0BC"/>
                </a:solidFill>
                <a:latin typeface="Consolas"/>
              </a:rPr>
              <a:t>PLAINLY</a:t>
            </a:r>
          </a:p>
          <a:p>
            <a:pPr algn="l">
              <a:lnSpc>
                <a:spcPct val="118000"/>
              </a:lnSpc>
              <a:spcAft>
                <a:spcPts val="0"/>
              </a:spcAft>
            </a:pPr>
            <a:r>
              <a:rPr sz="850" b="0">
                <a:solidFill>
                  <a:srgbClr val="E9EDF7"/>
                </a:solidFill>
                <a:latin typeface="Segoe UI"/>
              </a:rPr>
              <a:t>"Not allowed" would confirm it exists.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B14"/>
        </a:solidFill>
        <a:effectLst/>
      </p:bgPr>
    </p:bg>
    <p:spTree>
      <p:nvGrpSpPr>
        <p:cNvPr id="1" name=""/>
        <p:cNvGrpSpPr/>
        <p:nvPr/>
      </p:nvGrpSpPr>
      <p:grpSpPr/>
      <p:sp>
        <p:nvSpPr>
          <p:cNvPr id="2" name="TextBox 1"/>
          <p:cNvSpPr txBox="1"/>
          <p:nvPr/>
        </p:nvSpPr>
        <p:spPr>
          <a:xfrm>
            <a:off x="502920" y="310896"/>
            <a:ext cx="11185855" cy="219456"/>
          </a:xfrm>
          <a:prstGeom prst="rect">
            <a:avLst/>
          </a:prstGeom>
          <a:noFill/>
        </p:spPr>
        <p:txBody>
          <a:bodyPr wrap="square" anchor="t" lIns="0" rIns="0" tIns="0" bIns="0">
            <a:spAutoFit/>
          </a:bodyPr>
          <a:lstStyle/>
          <a:p>
            <a:pPr algn="l">
              <a:spcAft>
                <a:spcPts val="0"/>
              </a:spcAft>
            </a:pPr>
            <a:r>
              <a:rPr sz="900" b="0" spc="160">
                <a:solidFill>
                  <a:srgbClr val="8B95B3"/>
                </a:solidFill>
                <a:latin typeface="Consolas"/>
              </a:rPr>
              <a:t>04 / 06     WHAT ALREADY WORKS</a:t>
            </a:r>
          </a:p>
        </p:txBody>
      </p:sp>
      <p:sp>
        <p:nvSpPr>
          <p:cNvPr id="3" name="Rectangle 2"/>
          <p:cNvSpPr/>
          <p:nvPr/>
        </p:nvSpPr>
        <p:spPr>
          <a:xfrm>
            <a:off x="502920" y="576072"/>
            <a:ext cx="11185855" cy="10972"/>
          </a:xfrm>
          <a:prstGeom prst="rect">
            <a:avLst/>
          </a:prstGeom>
          <a:solidFill>
            <a:srgbClr val="26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731520"/>
            <a:ext cx="11185855" cy="914400"/>
          </a:xfrm>
          <a:prstGeom prst="rect">
            <a:avLst/>
          </a:prstGeom>
          <a:noFill/>
        </p:spPr>
        <p:txBody>
          <a:bodyPr wrap="square" anchor="t" lIns="0" rIns="0" tIns="0" bIns="0">
            <a:spAutoFit/>
          </a:bodyPr>
          <a:lstStyle/>
          <a:p>
            <a:pPr algn="l">
              <a:lnSpc>
                <a:spcPct val="95000"/>
              </a:lnSpc>
              <a:spcAft>
                <a:spcPts val="0"/>
              </a:spcAft>
            </a:pPr>
            <a:r>
              <a:rPr sz="2300" b="1">
                <a:solidFill>
                  <a:srgbClr val="E9EDF7"/>
                </a:solidFill>
                <a:latin typeface="Segoe UI Semibold"/>
              </a:rPr>
              <a:t>We did not just design this. We built it, and then we tried to break it.</a:t>
            </a:r>
          </a:p>
        </p:txBody>
      </p:sp>
      <p:sp>
        <p:nvSpPr>
          <p:cNvPr id="5" name="TextBox 4"/>
          <p:cNvSpPr txBox="1"/>
          <p:nvPr/>
        </p:nvSpPr>
        <p:spPr>
          <a:xfrm>
            <a:off x="502920" y="1298448"/>
            <a:ext cx="8686800" cy="219456"/>
          </a:xfrm>
          <a:prstGeom prst="rect">
            <a:avLst/>
          </a:prstGeom>
          <a:noFill/>
        </p:spPr>
        <p:txBody>
          <a:bodyPr wrap="square" anchor="t" lIns="0" rIns="0" tIns="0" bIns="0">
            <a:spAutoFit/>
          </a:bodyPr>
          <a:lstStyle/>
          <a:p>
            <a:pPr algn="l">
              <a:spcAft>
                <a:spcPts val="0"/>
              </a:spcAft>
            </a:pPr>
            <a:r>
              <a:rPr sz="1050" b="0">
                <a:solidFill>
                  <a:srgbClr val="8B95B3"/>
                </a:solidFill>
                <a:latin typeface="Segoe UI"/>
              </a:rPr>
              <a:t>Everything below is real output from the system running today — not a plan, not a mock-up.</a:t>
            </a:r>
          </a:p>
        </p:txBody>
      </p:sp>
      <p:sp>
        <p:nvSpPr>
          <p:cNvPr id="6" name="Rounded Rectangle 5"/>
          <p:cNvSpPr/>
          <p:nvPr/>
        </p:nvSpPr>
        <p:spPr>
          <a:xfrm>
            <a:off x="502920" y="1664208"/>
            <a:ext cx="2693593" cy="1874519"/>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49224" y="1810512"/>
            <a:ext cx="2400985" cy="164592"/>
          </a:xfrm>
          <a:prstGeom prst="rect">
            <a:avLst/>
          </a:prstGeom>
          <a:noFill/>
        </p:spPr>
        <p:txBody>
          <a:bodyPr wrap="square" anchor="t" lIns="0" rIns="0" tIns="0" bIns="0">
            <a:spAutoFit/>
          </a:bodyPr>
          <a:lstStyle/>
          <a:p>
            <a:pPr algn="l">
              <a:spcAft>
                <a:spcPts val="0"/>
              </a:spcAft>
            </a:pPr>
            <a:r>
              <a:rPr sz="750" b="0" spc="130">
                <a:solidFill>
                  <a:srgbClr val="8B95B3"/>
                </a:solidFill>
                <a:latin typeface="Consolas"/>
              </a:rPr>
              <a:t>A FULL JOB, START TO FINISH</a:t>
            </a:r>
          </a:p>
        </p:txBody>
      </p:sp>
      <p:sp>
        <p:nvSpPr>
          <p:cNvPr id="8" name="TextBox 7"/>
          <p:cNvSpPr txBox="1"/>
          <p:nvPr/>
        </p:nvSpPr>
        <p:spPr>
          <a:xfrm>
            <a:off x="649224" y="2048256"/>
            <a:ext cx="2400985" cy="384048"/>
          </a:xfrm>
          <a:prstGeom prst="rect">
            <a:avLst/>
          </a:prstGeom>
          <a:noFill/>
        </p:spPr>
        <p:txBody>
          <a:bodyPr wrap="square" anchor="t" lIns="0" rIns="0" tIns="0" bIns="0">
            <a:spAutoFit/>
          </a:bodyPr>
          <a:lstStyle/>
          <a:p>
            <a:pPr algn="l">
              <a:spcAft>
                <a:spcPts val="0"/>
              </a:spcAft>
            </a:pPr>
            <a:r>
              <a:rPr sz="2600" b="1">
                <a:solidFill>
                  <a:srgbClr val="4FE0BC"/>
                </a:solidFill>
                <a:latin typeface="Segoe UI Semibold"/>
              </a:rPr>
              <a:t>15 / 15</a:t>
            </a:r>
          </a:p>
        </p:txBody>
      </p:sp>
      <p:sp>
        <p:nvSpPr>
          <p:cNvPr id="9" name="TextBox 8"/>
          <p:cNvSpPr txBox="1"/>
          <p:nvPr/>
        </p:nvSpPr>
        <p:spPr>
          <a:xfrm>
            <a:off x="649224" y="2523744"/>
            <a:ext cx="2400985" cy="621792"/>
          </a:xfrm>
          <a:prstGeom prst="rect">
            <a:avLst/>
          </a:prstGeom>
          <a:noFill/>
        </p:spPr>
        <p:txBody>
          <a:bodyPr wrap="square" anchor="t" lIns="0" rIns="0" tIns="0" bIns="0">
            <a:spAutoFit/>
          </a:bodyPr>
          <a:lstStyle/>
          <a:p>
            <a:pPr algn="l">
              <a:lnSpc>
                <a:spcPct val="122000"/>
              </a:lnSpc>
              <a:spcAft>
                <a:spcPts val="0"/>
              </a:spcAft>
            </a:pPr>
            <a:r>
              <a:rPr sz="900" b="0">
                <a:solidFill>
                  <a:srgbClr val="8B95B3"/>
                </a:solidFill>
                <a:latin typeface="Segoe UI"/>
              </a:rPr>
              <a:t>120 items cut into 15 slices, finished by 3 phones in 1.9 seconds. All 120 answers came back in the original order and the credit accounts balanced exactly.</a:t>
            </a:r>
          </a:p>
        </p:txBody>
      </p:sp>
      <p:sp>
        <p:nvSpPr>
          <p:cNvPr id="10" name="Rounded Rectangle 9"/>
          <p:cNvSpPr/>
          <p:nvPr/>
        </p:nvSpPr>
        <p:spPr>
          <a:xfrm>
            <a:off x="3333673" y="1664208"/>
            <a:ext cx="2693593" cy="1874519"/>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479977" y="1810512"/>
            <a:ext cx="2400985" cy="164592"/>
          </a:xfrm>
          <a:prstGeom prst="rect">
            <a:avLst/>
          </a:prstGeom>
          <a:noFill/>
        </p:spPr>
        <p:txBody>
          <a:bodyPr wrap="square" anchor="t" lIns="0" rIns="0" tIns="0" bIns="0">
            <a:spAutoFit/>
          </a:bodyPr>
          <a:lstStyle/>
          <a:p>
            <a:pPr algn="l">
              <a:spcAft>
                <a:spcPts val="0"/>
              </a:spcAft>
            </a:pPr>
            <a:r>
              <a:rPr sz="750" b="0" spc="130">
                <a:solidFill>
                  <a:srgbClr val="8B95B3"/>
                </a:solidFill>
                <a:latin typeface="Consolas"/>
              </a:rPr>
              <a:t>WE YANKED A PHONE MID-JOB</a:t>
            </a:r>
          </a:p>
        </p:txBody>
      </p:sp>
      <p:sp>
        <p:nvSpPr>
          <p:cNvPr id="12" name="TextBox 11"/>
          <p:cNvSpPr txBox="1"/>
          <p:nvPr/>
        </p:nvSpPr>
        <p:spPr>
          <a:xfrm>
            <a:off x="3479977" y="2048256"/>
            <a:ext cx="2400985" cy="384048"/>
          </a:xfrm>
          <a:prstGeom prst="rect">
            <a:avLst/>
          </a:prstGeom>
          <a:noFill/>
        </p:spPr>
        <p:txBody>
          <a:bodyPr wrap="square" anchor="t" lIns="0" rIns="0" tIns="0" bIns="0">
            <a:spAutoFit/>
          </a:bodyPr>
          <a:lstStyle/>
          <a:p>
            <a:pPr algn="l">
              <a:spcAft>
                <a:spcPts val="0"/>
              </a:spcAft>
            </a:pPr>
            <a:r>
              <a:rPr sz="2600" b="1">
                <a:solidFill>
                  <a:srgbClr val="4FE0BC"/>
                </a:solidFill>
                <a:latin typeface="Segoe UI Semibold"/>
              </a:rPr>
              <a:t>8 / 8</a:t>
            </a:r>
          </a:p>
        </p:txBody>
      </p:sp>
      <p:sp>
        <p:nvSpPr>
          <p:cNvPr id="13" name="TextBox 12"/>
          <p:cNvSpPr txBox="1"/>
          <p:nvPr/>
        </p:nvSpPr>
        <p:spPr>
          <a:xfrm>
            <a:off x="3479977" y="2523744"/>
            <a:ext cx="2400985" cy="621792"/>
          </a:xfrm>
          <a:prstGeom prst="rect">
            <a:avLst/>
          </a:prstGeom>
          <a:noFill/>
        </p:spPr>
        <p:txBody>
          <a:bodyPr wrap="square" anchor="t" lIns="0" rIns="0" tIns="0" bIns="0">
            <a:spAutoFit/>
          </a:bodyPr>
          <a:lstStyle/>
          <a:p>
            <a:pPr algn="l">
              <a:lnSpc>
                <a:spcPct val="122000"/>
              </a:lnSpc>
              <a:spcAft>
                <a:spcPts val="0"/>
              </a:spcAft>
            </a:pPr>
            <a:r>
              <a:rPr sz="900" b="0">
                <a:solidFill>
                  <a:srgbClr val="8B95B3"/>
                </a:solidFill>
                <a:latin typeface="Segoe UI"/>
              </a:rPr>
              <a:t>A phone was pulled away holding slice #0. Its hold expired, the slice went back, another phone finished it. Nothing lost — and the phone that walked away was paid zero.</a:t>
            </a:r>
          </a:p>
        </p:txBody>
      </p:sp>
      <p:sp>
        <p:nvSpPr>
          <p:cNvPr id="14" name="Rounded Rectangle 13"/>
          <p:cNvSpPr/>
          <p:nvPr/>
        </p:nvSpPr>
        <p:spPr>
          <a:xfrm>
            <a:off x="6164427" y="1664208"/>
            <a:ext cx="2693593" cy="1874519"/>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310731" y="1810512"/>
            <a:ext cx="2400985" cy="164592"/>
          </a:xfrm>
          <a:prstGeom prst="rect">
            <a:avLst/>
          </a:prstGeom>
          <a:noFill/>
        </p:spPr>
        <p:txBody>
          <a:bodyPr wrap="square" anchor="t" lIns="0" rIns="0" tIns="0" bIns="0">
            <a:spAutoFit/>
          </a:bodyPr>
          <a:lstStyle/>
          <a:p>
            <a:pPr algn="l">
              <a:spcAft>
                <a:spcPts val="0"/>
              </a:spcAft>
            </a:pPr>
            <a:r>
              <a:rPr sz="750" b="0" spc="130">
                <a:solidFill>
                  <a:srgbClr val="8B95B3"/>
                </a:solidFill>
                <a:latin typeface="Consolas"/>
              </a:rPr>
              <a:t>16 PHONES FOUGHT OVER 1 SLICE</a:t>
            </a:r>
          </a:p>
        </p:txBody>
      </p:sp>
      <p:sp>
        <p:nvSpPr>
          <p:cNvPr id="16" name="TextBox 15"/>
          <p:cNvSpPr txBox="1"/>
          <p:nvPr/>
        </p:nvSpPr>
        <p:spPr>
          <a:xfrm>
            <a:off x="6310731" y="2048256"/>
            <a:ext cx="2400985" cy="384048"/>
          </a:xfrm>
          <a:prstGeom prst="rect">
            <a:avLst/>
          </a:prstGeom>
          <a:noFill/>
        </p:spPr>
        <p:txBody>
          <a:bodyPr wrap="square" anchor="t" lIns="0" rIns="0" tIns="0" bIns="0">
            <a:spAutoFit/>
          </a:bodyPr>
          <a:lstStyle/>
          <a:p>
            <a:pPr algn="l">
              <a:spcAft>
                <a:spcPts val="0"/>
              </a:spcAft>
            </a:pPr>
            <a:r>
              <a:rPr sz="2600" b="1">
                <a:solidFill>
                  <a:srgbClr val="8AA5FF"/>
                </a:solidFill>
                <a:latin typeface="Segoe UI Semibold"/>
              </a:rPr>
              <a:t>16 → 1</a:t>
            </a:r>
          </a:p>
        </p:txBody>
      </p:sp>
      <p:sp>
        <p:nvSpPr>
          <p:cNvPr id="17" name="TextBox 16"/>
          <p:cNvSpPr txBox="1"/>
          <p:nvPr/>
        </p:nvSpPr>
        <p:spPr>
          <a:xfrm>
            <a:off x="6310731" y="2523744"/>
            <a:ext cx="2400985" cy="466344"/>
          </a:xfrm>
          <a:prstGeom prst="rect">
            <a:avLst/>
          </a:prstGeom>
          <a:noFill/>
        </p:spPr>
        <p:txBody>
          <a:bodyPr wrap="square" anchor="t" lIns="0" rIns="0" tIns="0" bIns="0">
            <a:spAutoFit/>
          </a:bodyPr>
          <a:lstStyle/>
          <a:p>
            <a:pPr algn="l">
              <a:lnSpc>
                <a:spcPct val="122000"/>
              </a:lnSpc>
              <a:spcAft>
                <a:spcPts val="0"/>
              </a:spcAft>
            </a:pPr>
            <a:r>
              <a:rPr sz="900" b="0">
                <a:solidFill>
                  <a:srgbClr val="8B95B3"/>
                </a:solidFill>
                <a:latin typeface="Segoe UI"/>
              </a:rPr>
              <a:t>Exactly one won. Two phones on one slice means paying twice for one piece of work, so we made that impossible rather than unlikely.</a:t>
            </a:r>
          </a:p>
        </p:txBody>
      </p:sp>
      <p:sp>
        <p:nvSpPr>
          <p:cNvPr id="18" name="Rounded Rectangle 17"/>
          <p:cNvSpPr/>
          <p:nvPr/>
        </p:nvSpPr>
        <p:spPr>
          <a:xfrm>
            <a:off x="8995181" y="1664208"/>
            <a:ext cx="2693593" cy="1874519"/>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141485" y="1810512"/>
            <a:ext cx="2400985" cy="164592"/>
          </a:xfrm>
          <a:prstGeom prst="rect">
            <a:avLst/>
          </a:prstGeom>
          <a:noFill/>
        </p:spPr>
        <p:txBody>
          <a:bodyPr wrap="square" anchor="t" lIns="0" rIns="0" tIns="0" bIns="0">
            <a:spAutoFit/>
          </a:bodyPr>
          <a:lstStyle/>
          <a:p>
            <a:pPr algn="l">
              <a:spcAft>
                <a:spcPts val="0"/>
              </a:spcAft>
            </a:pPr>
            <a:r>
              <a:rPr sz="750" b="0" spc="130">
                <a:solidFill>
                  <a:srgbClr val="8B95B3"/>
                </a:solidFill>
                <a:latin typeface="Consolas"/>
              </a:rPr>
              <a:t>WEAK PHONES GET PROTECTED</a:t>
            </a:r>
          </a:p>
        </p:txBody>
      </p:sp>
      <p:sp>
        <p:nvSpPr>
          <p:cNvPr id="20" name="TextBox 19"/>
          <p:cNvSpPr txBox="1"/>
          <p:nvPr/>
        </p:nvSpPr>
        <p:spPr>
          <a:xfrm>
            <a:off x="9141485" y="2048256"/>
            <a:ext cx="2400985" cy="384048"/>
          </a:xfrm>
          <a:prstGeom prst="rect">
            <a:avLst/>
          </a:prstGeom>
          <a:noFill/>
        </p:spPr>
        <p:txBody>
          <a:bodyPr wrap="square" anchor="t" lIns="0" rIns="0" tIns="0" bIns="0">
            <a:spAutoFit/>
          </a:bodyPr>
          <a:lstStyle/>
          <a:p>
            <a:pPr algn="l">
              <a:spcAft>
                <a:spcPts val="0"/>
              </a:spcAft>
            </a:pPr>
            <a:r>
              <a:rPr sz="2600" b="1">
                <a:solidFill>
                  <a:srgbClr val="8AA5FF"/>
                </a:solidFill>
                <a:latin typeface="Segoe UI Semibold"/>
              </a:rPr>
              <a:t>0</a:t>
            </a:r>
          </a:p>
        </p:txBody>
      </p:sp>
      <p:sp>
        <p:nvSpPr>
          <p:cNvPr id="21" name="TextBox 20"/>
          <p:cNvSpPr txBox="1"/>
          <p:nvPr/>
        </p:nvSpPr>
        <p:spPr>
          <a:xfrm>
            <a:off x="9141485" y="2523744"/>
            <a:ext cx="2400985" cy="466344"/>
          </a:xfrm>
          <a:prstGeom prst="rect">
            <a:avLst/>
          </a:prstGeom>
          <a:noFill/>
        </p:spPr>
        <p:txBody>
          <a:bodyPr wrap="square" anchor="t" lIns="0" rIns="0" tIns="0" bIns="0">
            <a:spAutoFit/>
          </a:bodyPr>
          <a:lstStyle/>
          <a:p>
            <a:pPr algn="l">
              <a:lnSpc>
                <a:spcPct val="122000"/>
              </a:lnSpc>
              <a:spcAft>
                <a:spcPts val="0"/>
              </a:spcAft>
            </a:pPr>
            <a:r>
              <a:rPr sz="900" b="0">
                <a:solidFill>
                  <a:srgbClr val="8B95B3"/>
                </a:solidFill>
                <a:latin typeface="Segoe UI"/>
              </a:rPr>
              <a:t>Slices offered to an older phone from a job it could not handle. Each phone is judged on what it actually measures, never on its brand name.</a:t>
            </a:r>
          </a:p>
        </p:txBody>
      </p:sp>
      <p:sp>
        <p:nvSpPr>
          <p:cNvPr id="22" name="Rounded Rectangle 21"/>
          <p:cNvSpPr/>
          <p:nvPr/>
        </p:nvSpPr>
        <p:spPr>
          <a:xfrm>
            <a:off x="502920" y="3675887"/>
            <a:ext cx="5478627" cy="2103120"/>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9224" y="3822191"/>
            <a:ext cx="5186019" cy="164592"/>
          </a:xfrm>
          <a:prstGeom prst="rect">
            <a:avLst/>
          </a:prstGeom>
          <a:noFill/>
        </p:spPr>
        <p:txBody>
          <a:bodyPr wrap="square" anchor="t" lIns="0" rIns="0" tIns="0" bIns="0">
            <a:spAutoFit/>
          </a:bodyPr>
          <a:lstStyle/>
          <a:p>
            <a:pPr algn="l">
              <a:spcAft>
                <a:spcPts val="0"/>
              </a:spcAft>
            </a:pPr>
            <a:r>
              <a:rPr sz="750" b="0" spc="130">
                <a:solidFill>
                  <a:srgbClr val="8B95B3"/>
                </a:solidFill>
                <a:latin typeface="Consolas"/>
              </a:rPr>
              <a:t>WHAT THE PERSON WHO SUBMITTED THE JOB SEES</a:t>
            </a:r>
          </a:p>
        </p:txBody>
      </p:sp>
      <p:sp>
        <p:nvSpPr>
          <p:cNvPr id="24" name="Rounded Rectangle 23"/>
          <p:cNvSpPr/>
          <p:nvPr/>
        </p:nvSpPr>
        <p:spPr>
          <a:xfrm>
            <a:off x="667512" y="4114800"/>
            <a:ext cx="201168" cy="201168"/>
          </a:xfrm>
          <a:prstGeom prst="roundRect">
            <a:avLst>
              <a:gd name="adj" fmla="val 22000"/>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914400" y="4114800"/>
            <a:ext cx="201168" cy="201168"/>
          </a:xfrm>
          <a:prstGeom prst="roundRect">
            <a:avLst>
              <a:gd name="adj" fmla="val 22000"/>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1161288" y="4114800"/>
            <a:ext cx="201168" cy="201168"/>
          </a:xfrm>
          <a:prstGeom prst="roundRect">
            <a:avLst>
              <a:gd name="adj" fmla="val 22000"/>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1408176" y="4114800"/>
            <a:ext cx="201168" cy="201168"/>
          </a:xfrm>
          <a:prstGeom prst="roundRect">
            <a:avLst>
              <a:gd name="adj" fmla="val 22000"/>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1655064" y="4114800"/>
            <a:ext cx="201168" cy="201168"/>
          </a:xfrm>
          <a:prstGeom prst="roundRect">
            <a:avLst>
              <a:gd name="adj" fmla="val 22000"/>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1901952" y="4114800"/>
            <a:ext cx="201168" cy="201168"/>
          </a:xfrm>
          <a:prstGeom prst="roundRect">
            <a:avLst>
              <a:gd name="adj" fmla="val 22000"/>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2148840" y="4114800"/>
            <a:ext cx="201168" cy="201168"/>
          </a:xfrm>
          <a:prstGeom prst="roundRect">
            <a:avLst>
              <a:gd name="adj" fmla="val 22000"/>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2395728" y="4114800"/>
            <a:ext cx="201168" cy="201168"/>
          </a:xfrm>
          <a:prstGeom prst="roundRect">
            <a:avLst>
              <a:gd name="adj" fmla="val 22000"/>
            </a:avLst>
          </a:prstGeom>
          <a:solidFill>
            <a:srgbClr val="8AA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2642616" y="4114800"/>
            <a:ext cx="201168" cy="201168"/>
          </a:xfrm>
          <a:prstGeom prst="roundRect">
            <a:avLst>
              <a:gd name="adj" fmla="val 22000"/>
            </a:avLst>
          </a:prstGeom>
          <a:solidFill>
            <a:srgbClr val="8AA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2889504" y="4114800"/>
            <a:ext cx="201168" cy="201168"/>
          </a:xfrm>
          <a:prstGeom prst="roundRect">
            <a:avLst>
              <a:gd name="adj" fmla="val 22000"/>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667512" y="4361688"/>
            <a:ext cx="201168" cy="201168"/>
          </a:xfrm>
          <a:prstGeom prst="roundRect">
            <a:avLst>
              <a:gd name="adj" fmla="val 22000"/>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914400" y="4361688"/>
            <a:ext cx="201168" cy="201168"/>
          </a:xfrm>
          <a:prstGeom prst="roundRect">
            <a:avLst>
              <a:gd name="adj" fmla="val 22000"/>
            </a:avLst>
          </a:prstGeom>
          <a:solidFill>
            <a:srgbClr val="FF84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1161288" y="4361688"/>
            <a:ext cx="201168" cy="201168"/>
          </a:xfrm>
          <a:prstGeom prst="roundRect">
            <a:avLst>
              <a:gd name="adj" fmla="val 22000"/>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ounded Rectangle 36"/>
          <p:cNvSpPr/>
          <p:nvPr/>
        </p:nvSpPr>
        <p:spPr>
          <a:xfrm>
            <a:off x="1408176" y="4361688"/>
            <a:ext cx="201168" cy="201168"/>
          </a:xfrm>
          <a:prstGeom prst="roundRect">
            <a:avLst>
              <a:gd name="adj" fmla="val 22000"/>
            </a:avLst>
          </a:prstGeom>
          <a:solidFill>
            <a:srgbClr val="8AA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1655064" y="4361688"/>
            <a:ext cx="201168" cy="201168"/>
          </a:xfrm>
          <a:prstGeom prst="roundRect">
            <a:avLst>
              <a:gd name="adj" fmla="val 22000"/>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1901952" y="4361688"/>
            <a:ext cx="201168" cy="201168"/>
          </a:xfrm>
          <a:prstGeom prst="roundRect">
            <a:avLst>
              <a:gd name="adj" fmla="val 22000"/>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2148840" y="4361688"/>
            <a:ext cx="201168" cy="201168"/>
          </a:xfrm>
          <a:prstGeom prst="roundRect">
            <a:avLst>
              <a:gd name="adj" fmla="val 22000"/>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2395728" y="4361688"/>
            <a:ext cx="201168" cy="201168"/>
          </a:xfrm>
          <a:prstGeom prst="roundRect">
            <a:avLst>
              <a:gd name="adj" fmla="val 22000"/>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ounded Rectangle 41"/>
          <p:cNvSpPr/>
          <p:nvPr/>
        </p:nvSpPr>
        <p:spPr>
          <a:xfrm>
            <a:off x="2642616" y="4361688"/>
            <a:ext cx="201168" cy="201168"/>
          </a:xfrm>
          <a:prstGeom prst="roundRect">
            <a:avLst>
              <a:gd name="adj" fmla="val 22000"/>
            </a:avLst>
          </a:prstGeom>
          <a:solidFill>
            <a:srgbClr val="2A33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ounded Rectangle 42"/>
          <p:cNvSpPr/>
          <p:nvPr/>
        </p:nvSpPr>
        <p:spPr>
          <a:xfrm>
            <a:off x="2889504" y="4361688"/>
            <a:ext cx="201168" cy="201168"/>
          </a:xfrm>
          <a:prstGeom prst="roundRect">
            <a:avLst>
              <a:gd name="adj" fmla="val 22000"/>
            </a:avLst>
          </a:prstGeom>
          <a:solidFill>
            <a:srgbClr val="2A33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667512" y="4663440"/>
            <a:ext cx="768096" cy="256032"/>
          </a:xfrm>
          <a:prstGeom prst="roundRect">
            <a:avLst>
              <a:gd name="adj" fmla="val 50000"/>
            </a:avLst>
          </a:prstGeom>
          <a:noFill/>
          <a:ln w="9525">
            <a:solidFill>
              <a:srgbClr val="1B4A4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800">
                <a:solidFill>
                  <a:srgbClr val="4FE0BC"/>
                </a:solidFill>
                <a:latin typeface="Consolas"/>
              </a:rPr>
              <a:t>finished</a:t>
            </a:r>
          </a:p>
        </p:txBody>
      </p:sp>
      <p:sp>
        <p:nvSpPr>
          <p:cNvPr id="45" name="Rounded Rectangle 44"/>
          <p:cNvSpPr/>
          <p:nvPr/>
        </p:nvSpPr>
        <p:spPr>
          <a:xfrm>
            <a:off x="1545336" y="4663440"/>
            <a:ext cx="973836" cy="256032"/>
          </a:xfrm>
          <a:prstGeom prst="roundRect">
            <a:avLst>
              <a:gd name="adj" fmla="val 50000"/>
            </a:avLst>
          </a:prstGeom>
          <a:noFill/>
          <a:ln w="9525">
            <a:solidFill>
              <a:srgbClr val="24305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800">
                <a:solidFill>
                  <a:srgbClr val="8AA5FF"/>
                </a:solidFill>
                <a:latin typeface="Consolas"/>
              </a:rPr>
              <a:t>running now</a:t>
            </a:r>
          </a:p>
        </p:txBody>
      </p:sp>
      <p:sp>
        <p:nvSpPr>
          <p:cNvPr id="46" name="Rounded Rectangle 45"/>
          <p:cNvSpPr/>
          <p:nvPr/>
        </p:nvSpPr>
        <p:spPr>
          <a:xfrm>
            <a:off x="2628900" y="4663440"/>
            <a:ext cx="1385316" cy="256032"/>
          </a:xfrm>
          <a:prstGeom prst="roundRect">
            <a:avLst>
              <a:gd name="adj" fmla="val 50000"/>
            </a:avLst>
          </a:prstGeom>
          <a:noFill/>
          <a:ln w="9525">
            <a:solidFill>
              <a:srgbClr val="4A242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800">
                <a:solidFill>
                  <a:srgbClr val="FF8474"/>
                </a:solidFill>
                <a:latin typeface="Consolas"/>
              </a:rPr>
              <a:t>dropped, retrying</a:t>
            </a:r>
          </a:p>
        </p:txBody>
      </p:sp>
      <p:sp>
        <p:nvSpPr>
          <p:cNvPr id="47" name="Rounded Rectangle 46"/>
          <p:cNvSpPr/>
          <p:nvPr/>
        </p:nvSpPr>
        <p:spPr>
          <a:xfrm>
            <a:off x="4123944" y="4663440"/>
            <a:ext cx="699516" cy="256032"/>
          </a:xfrm>
          <a:prstGeom prst="roundRect">
            <a:avLst>
              <a:gd name="adj" fmla="val 50000"/>
            </a:avLst>
          </a:prstGeom>
          <a:no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800">
                <a:solidFill>
                  <a:srgbClr val="8B95B3"/>
                </a:solidFill>
                <a:latin typeface="Consolas"/>
              </a:rPr>
              <a:t>waiting</a:t>
            </a:r>
          </a:p>
        </p:txBody>
      </p:sp>
      <p:sp>
        <p:nvSpPr>
          <p:cNvPr id="48" name="TextBox 47"/>
          <p:cNvSpPr txBox="1"/>
          <p:nvPr/>
        </p:nvSpPr>
        <p:spPr>
          <a:xfrm>
            <a:off x="667512" y="5047488"/>
            <a:ext cx="5149443" cy="548640"/>
          </a:xfrm>
          <a:prstGeom prst="rect">
            <a:avLst/>
          </a:prstGeom>
          <a:noFill/>
        </p:spPr>
        <p:txBody>
          <a:bodyPr wrap="square" anchor="t" lIns="0" rIns="0" tIns="0" bIns="0">
            <a:spAutoFit/>
          </a:bodyPr>
          <a:lstStyle/>
          <a:p>
            <a:pPr algn="l">
              <a:lnSpc>
                <a:spcPct val="125000"/>
              </a:lnSpc>
              <a:spcAft>
                <a:spcPts val="0"/>
              </a:spcAft>
            </a:pPr>
            <a:r>
              <a:rPr sz="900" b="0">
                <a:solidFill>
                  <a:srgbClr val="8B95B3"/>
                </a:solidFill>
                <a:latin typeface="Segoe UI"/>
              </a:rPr>
              <a:t>One square per slice, updating live on the phone screen as the fleet works. This is the demo: the judges watch squares turn green in real time.</a:t>
            </a:r>
          </a:p>
        </p:txBody>
      </p:sp>
      <p:sp>
        <p:nvSpPr>
          <p:cNvPr id="49" name="Rounded Rectangle 48"/>
          <p:cNvSpPr/>
          <p:nvPr/>
        </p:nvSpPr>
        <p:spPr>
          <a:xfrm>
            <a:off x="6210147" y="3675887"/>
            <a:ext cx="5478627" cy="2103120"/>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6356451" y="3822191"/>
            <a:ext cx="5186019" cy="164592"/>
          </a:xfrm>
          <a:prstGeom prst="rect">
            <a:avLst/>
          </a:prstGeom>
          <a:noFill/>
        </p:spPr>
        <p:txBody>
          <a:bodyPr wrap="square" anchor="t" lIns="0" rIns="0" tIns="0" bIns="0">
            <a:spAutoFit/>
          </a:bodyPr>
          <a:lstStyle/>
          <a:p>
            <a:pPr algn="l">
              <a:spcAft>
                <a:spcPts val="0"/>
              </a:spcAft>
            </a:pPr>
            <a:r>
              <a:rPr sz="750" b="0" spc="130">
                <a:solidFill>
                  <a:srgbClr val="8B95B3"/>
                </a:solidFill>
                <a:latin typeface="Consolas"/>
              </a:rPr>
              <a:t>BUILT AND VERIFIED TODAY</a:t>
            </a:r>
          </a:p>
        </p:txBody>
      </p:sp>
      <p:sp>
        <p:nvSpPr>
          <p:cNvPr id="51" name="TextBox 50"/>
          <p:cNvSpPr txBox="1"/>
          <p:nvPr/>
        </p:nvSpPr>
        <p:spPr>
          <a:xfrm>
            <a:off x="6356451" y="4059935"/>
            <a:ext cx="5186019" cy="1572768"/>
          </a:xfrm>
          <a:prstGeom prst="rect">
            <a:avLst/>
          </a:prstGeom>
          <a:noFill/>
        </p:spPr>
        <p:txBody>
          <a:bodyPr wrap="square" anchor="t" lIns="0" rIns="0" tIns="0" bIns="0">
            <a:spAutoFit/>
          </a:bodyPr>
          <a:lstStyle/>
          <a:p>
            <a:pPr algn="l">
              <a:lnSpc>
                <a:spcPct val="120000"/>
              </a:lnSpc>
              <a:spcAft>
                <a:spcPts val="400"/>
              </a:spcAft>
            </a:pPr>
            <a:r>
              <a:rPr sz="900" b="0">
                <a:solidFill>
                  <a:srgbClr val="8B95B3"/>
                </a:solidFill>
                <a:latin typeface="Segoe UI"/>
              </a:rPr>
              <a:t>— The coordinator — ~20 web endpoints, live progress feed, automatic database setup.</a:t>
            </a:r>
          </a:p>
          <a:p>
            <a:pPr algn="l">
              <a:lnSpc>
                <a:spcPct val="120000"/>
              </a:lnSpc>
              <a:spcAft>
                <a:spcPts val="400"/>
              </a:spcAft>
            </a:pPr>
            <a:r>
              <a:rPr sz="900" b="0">
                <a:solidFill>
                  <a:srgbClr val="8B95B3"/>
                </a:solidFill>
                <a:latin typeface="Segoe UI"/>
              </a:rPr>
              <a:t>— The scheduler — five scripts covering take, hold, finish, fail and recover.</a:t>
            </a:r>
          </a:p>
          <a:p>
            <a:pPr algn="l">
              <a:lnSpc>
                <a:spcPct val="120000"/>
              </a:lnSpc>
              <a:spcAft>
                <a:spcPts val="400"/>
              </a:spcAft>
            </a:pPr>
            <a:r>
              <a:rPr sz="900" b="0">
                <a:solidFill>
                  <a:srgbClr val="8B95B3"/>
                </a:solidFill>
                <a:latin typeface="Segoe UI"/>
              </a:rPr>
              <a:t>— The Android app — one app, both modes, background service, real UI. 43 MB.</a:t>
            </a:r>
          </a:p>
          <a:p>
            <a:pPr algn="l">
              <a:lnSpc>
                <a:spcPct val="120000"/>
              </a:lnSpc>
              <a:spcAft>
                <a:spcPts val="400"/>
              </a:spcAft>
            </a:pPr>
            <a:r>
              <a:rPr sz="900" b="0">
                <a:solidFill>
                  <a:srgbClr val="8B95B3"/>
                </a:solidFill>
                <a:latin typeface="Segoe UI"/>
              </a:rPr>
              <a:t>— Three real AI models bundled in, each fingerprint-checked before it may run.</a:t>
            </a:r>
          </a:p>
          <a:p>
            <a:pPr algn="l">
              <a:lnSpc>
                <a:spcPct val="120000"/>
              </a:lnSpc>
              <a:spcAft>
                <a:spcPts val="400"/>
              </a:spcAft>
            </a:pPr>
            <a:r>
              <a:rPr sz="900" b="0">
                <a:solidFill>
                  <a:srgbClr val="8B95B3"/>
                </a:solidFill>
                <a:latin typeface="Segoe UI"/>
              </a:rPr>
              <a:t>— Test tooling — a fake fleet, including a switch that kills a phone mid-job.</a:t>
            </a:r>
          </a:p>
        </p:txBody>
      </p:sp>
      <p:sp>
        <p:nvSpPr>
          <p:cNvPr id="52" name="Rectangle 51"/>
          <p:cNvSpPr/>
          <p:nvPr/>
        </p:nvSpPr>
        <p:spPr>
          <a:xfrm>
            <a:off x="502920" y="5943600"/>
            <a:ext cx="20116" cy="566928"/>
          </a:xfrm>
          <a:prstGeom prst="rect">
            <a:avLst/>
          </a:prstGeom>
          <a:solidFill>
            <a:srgbClr val="FF8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1792" y="5943600"/>
            <a:ext cx="11002975" cy="566928"/>
          </a:xfrm>
          <a:prstGeom prst="rect">
            <a:avLst/>
          </a:prstGeom>
          <a:noFill/>
        </p:spPr>
        <p:txBody>
          <a:bodyPr wrap="square" anchor="t" lIns="0" rIns="0" tIns="0" bIns="0">
            <a:spAutoFit/>
          </a:bodyPr>
          <a:lstStyle/>
          <a:p>
            <a:pPr algn="l">
              <a:lnSpc>
                <a:spcPct val="125000"/>
              </a:lnSpc>
              <a:spcAft>
                <a:spcPts val="0"/>
              </a:spcAft>
            </a:pPr>
            <a:r>
              <a:rPr sz="900" b="0">
                <a:solidFill>
                  <a:srgbClr val="8B95B3"/>
                </a:solidFill>
                <a:latin typeface="Segoe UI"/>
              </a:rPr>
              <a:t>What we have NOT proven yet, said plainly:  the Android app compiles and installs, but we have never run it on an actual iQOO 15 — we do not own one. Getting real inference running on the real chip is hour 0–3 of the hackathon, and it is exactly why we want to be in the room.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B14"/>
        </a:solidFill>
        <a:effectLst/>
      </p:bgPr>
    </p:bg>
    <p:spTree>
      <p:nvGrpSpPr>
        <p:cNvPr id="1" name=""/>
        <p:cNvGrpSpPr/>
        <p:nvPr/>
      </p:nvGrpSpPr>
      <p:grpSpPr/>
      <p:sp>
        <p:nvSpPr>
          <p:cNvPr id="2" name="TextBox 1"/>
          <p:cNvSpPr txBox="1"/>
          <p:nvPr/>
        </p:nvSpPr>
        <p:spPr>
          <a:xfrm>
            <a:off x="502920" y="310896"/>
            <a:ext cx="11185855" cy="219456"/>
          </a:xfrm>
          <a:prstGeom prst="rect">
            <a:avLst/>
          </a:prstGeom>
          <a:noFill/>
        </p:spPr>
        <p:txBody>
          <a:bodyPr wrap="square" anchor="t" lIns="0" rIns="0" tIns="0" bIns="0">
            <a:spAutoFit/>
          </a:bodyPr>
          <a:lstStyle/>
          <a:p>
            <a:pPr algn="l">
              <a:spcAft>
                <a:spcPts val="0"/>
              </a:spcAft>
            </a:pPr>
            <a:r>
              <a:rPr sz="900" b="0" spc="160">
                <a:solidFill>
                  <a:srgbClr val="8B95B3"/>
                </a:solidFill>
                <a:latin typeface="Consolas"/>
              </a:rPr>
              <a:t>05 / 06     PHONE-FIRST · ON-DEVICE AI · PERFORMANCE</a:t>
            </a:r>
          </a:p>
        </p:txBody>
      </p:sp>
      <p:sp>
        <p:nvSpPr>
          <p:cNvPr id="3" name="Rectangle 2"/>
          <p:cNvSpPr/>
          <p:nvPr/>
        </p:nvSpPr>
        <p:spPr>
          <a:xfrm>
            <a:off x="502920" y="576072"/>
            <a:ext cx="11185855" cy="10972"/>
          </a:xfrm>
          <a:prstGeom prst="rect">
            <a:avLst/>
          </a:prstGeom>
          <a:solidFill>
            <a:srgbClr val="26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731520"/>
            <a:ext cx="11185855" cy="914400"/>
          </a:xfrm>
          <a:prstGeom prst="rect">
            <a:avLst/>
          </a:prstGeom>
          <a:noFill/>
        </p:spPr>
        <p:txBody>
          <a:bodyPr wrap="square" anchor="t" lIns="0" rIns="0" tIns="0" bIns="0">
            <a:spAutoFit/>
          </a:bodyPr>
          <a:lstStyle/>
          <a:p>
            <a:pPr algn="l">
              <a:lnSpc>
                <a:spcPct val="95000"/>
              </a:lnSpc>
              <a:spcAft>
                <a:spcPts val="0"/>
              </a:spcAft>
            </a:pPr>
            <a:r>
              <a:rPr sz="2300" b="1">
                <a:solidFill>
                  <a:srgbClr val="E9EDF7"/>
                </a:solidFill>
                <a:latin typeface="Segoe UI Semibold"/>
              </a:rPr>
              <a:t>The phone is not where we show the project. The phone is the project.</a:t>
            </a:r>
          </a:p>
        </p:txBody>
      </p:sp>
      <p:sp>
        <p:nvSpPr>
          <p:cNvPr id="5" name="Rounded Rectangle 4"/>
          <p:cNvSpPr/>
          <p:nvPr/>
        </p:nvSpPr>
        <p:spPr>
          <a:xfrm>
            <a:off x="502920" y="1325880"/>
            <a:ext cx="3576218" cy="2788920"/>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49224" y="1472184"/>
            <a:ext cx="3283610" cy="164592"/>
          </a:xfrm>
          <a:prstGeom prst="rect">
            <a:avLst/>
          </a:prstGeom>
          <a:noFill/>
        </p:spPr>
        <p:txBody>
          <a:bodyPr wrap="square" anchor="t" lIns="0" rIns="0" tIns="0" bIns="0">
            <a:spAutoFit/>
          </a:bodyPr>
          <a:lstStyle/>
          <a:p>
            <a:pPr algn="l">
              <a:spcAft>
                <a:spcPts val="0"/>
              </a:spcAft>
            </a:pPr>
            <a:r>
              <a:rPr sz="750" b="0" spc="130">
                <a:solidFill>
                  <a:srgbClr val="8B95B3"/>
                </a:solidFill>
                <a:latin typeface="Consolas"/>
              </a:rPr>
              <a:t>WHICH CHIP RUNS THE MODEL</a:t>
            </a:r>
          </a:p>
        </p:txBody>
      </p:sp>
      <p:sp>
        <p:nvSpPr>
          <p:cNvPr id="7" name="TextBox 6"/>
          <p:cNvSpPr txBox="1"/>
          <p:nvPr/>
        </p:nvSpPr>
        <p:spPr>
          <a:xfrm>
            <a:off x="649224" y="1709928"/>
            <a:ext cx="3283610" cy="438912"/>
          </a:xfrm>
          <a:prstGeom prst="rect">
            <a:avLst/>
          </a:prstGeom>
          <a:noFill/>
        </p:spPr>
        <p:txBody>
          <a:bodyPr wrap="square" anchor="t" lIns="0" rIns="0" tIns="0" bIns="0">
            <a:spAutoFit/>
          </a:bodyPr>
          <a:lstStyle/>
          <a:p>
            <a:pPr algn="l">
              <a:lnSpc>
                <a:spcPct val="105000"/>
              </a:lnSpc>
              <a:spcAft>
                <a:spcPts val="0"/>
              </a:spcAft>
            </a:pPr>
            <a:r>
              <a:rPr sz="1150" b="1">
                <a:solidFill>
                  <a:srgbClr val="E9EDF7"/>
                </a:solidFill>
                <a:latin typeface="Segoe UI Semibold"/>
              </a:rPr>
              <a:t>Try the AI chip, then the graphics chip, then the processor</a:t>
            </a:r>
          </a:p>
        </p:txBody>
      </p:sp>
      <p:sp>
        <p:nvSpPr>
          <p:cNvPr id="8" name="TextBox 7"/>
          <p:cNvSpPr txBox="1"/>
          <p:nvPr/>
        </p:nvSpPr>
        <p:spPr>
          <a:xfrm>
            <a:off x="649224" y="2185415"/>
            <a:ext cx="3283610" cy="777240"/>
          </a:xfrm>
          <a:prstGeom prst="rect">
            <a:avLst/>
          </a:prstGeom>
          <a:noFill/>
        </p:spPr>
        <p:txBody>
          <a:bodyPr wrap="square" anchor="t" lIns="0" rIns="0" tIns="0" bIns="0">
            <a:spAutoFit/>
          </a:bodyPr>
          <a:lstStyle/>
          <a:p>
            <a:pPr algn="l">
              <a:lnSpc>
                <a:spcPct val="122000"/>
              </a:lnSpc>
              <a:spcAft>
                <a:spcPts val="0"/>
              </a:spcAft>
            </a:pPr>
            <a:r>
              <a:rPr sz="900" b="0">
                <a:solidFill>
                  <a:srgbClr val="8B95B3"/>
                </a:solidFill>
                <a:latin typeface="Segoe UI"/>
              </a:rPr>
              <a:t>A phone has three chips that can run a model, best to worst. We ask for Qualcomm's AI chip first, fall back to the graphics chip, then the main processor. If one fails to start we quietly step down instead of crashing.</a:t>
            </a:r>
          </a:p>
        </p:txBody>
      </p:sp>
      <p:sp>
        <p:nvSpPr>
          <p:cNvPr id="9" name="Rectangle 8"/>
          <p:cNvSpPr/>
          <p:nvPr/>
        </p:nvSpPr>
        <p:spPr>
          <a:xfrm>
            <a:off x="649224" y="3584448"/>
            <a:ext cx="20116" cy="365760"/>
          </a:xfrm>
          <a:prstGeom prst="rect">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3584448"/>
            <a:ext cx="3183026" cy="365760"/>
          </a:xfrm>
          <a:prstGeom prst="rect">
            <a:avLst/>
          </a:prstGeom>
          <a:noFill/>
        </p:spPr>
        <p:txBody>
          <a:bodyPr wrap="square" anchor="t" lIns="0" rIns="0" tIns="0" bIns="0">
            <a:spAutoFit/>
          </a:bodyPr>
          <a:lstStyle/>
          <a:p>
            <a:pPr algn="l">
              <a:spcAft>
                <a:spcPts val="100"/>
              </a:spcAft>
            </a:pPr>
            <a:r>
              <a:rPr sz="650" b="1" spc="130">
                <a:solidFill>
                  <a:srgbClr val="4FE0BC"/>
                </a:solidFill>
                <a:latin typeface="Consolas"/>
              </a:rPr>
              <a:t>PLAINLY</a:t>
            </a:r>
          </a:p>
          <a:p>
            <a:pPr algn="l">
              <a:lnSpc>
                <a:spcPct val="118000"/>
              </a:lnSpc>
              <a:spcAft>
                <a:spcPts val="0"/>
              </a:spcAft>
            </a:pPr>
            <a:r>
              <a:rPr sz="850" b="0">
                <a:solidFill>
                  <a:srgbClr val="E9EDF7"/>
                </a:solidFill>
                <a:latin typeface="Segoe UI"/>
              </a:rPr>
              <a:t>A slow demo beats a dead demo. Something always runs.</a:t>
            </a:r>
          </a:p>
        </p:txBody>
      </p:sp>
      <p:sp>
        <p:nvSpPr>
          <p:cNvPr id="11" name="Rounded Rectangle 10"/>
          <p:cNvSpPr/>
          <p:nvPr/>
        </p:nvSpPr>
        <p:spPr>
          <a:xfrm>
            <a:off x="4307738" y="1325880"/>
            <a:ext cx="3576218" cy="2788920"/>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454042" y="1472184"/>
            <a:ext cx="3283610" cy="164592"/>
          </a:xfrm>
          <a:prstGeom prst="rect">
            <a:avLst/>
          </a:prstGeom>
          <a:noFill/>
        </p:spPr>
        <p:txBody>
          <a:bodyPr wrap="square" anchor="t" lIns="0" rIns="0" tIns="0" bIns="0">
            <a:spAutoFit/>
          </a:bodyPr>
          <a:lstStyle/>
          <a:p>
            <a:pPr algn="l">
              <a:spcAft>
                <a:spcPts val="0"/>
              </a:spcAft>
            </a:pPr>
            <a:r>
              <a:rPr sz="750" b="0" spc="130">
                <a:solidFill>
                  <a:srgbClr val="8B95B3"/>
                </a:solidFill>
                <a:latin typeface="Consolas"/>
              </a:rPr>
              <a:t>THE MODELS WE SHIP</a:t>
            </a:r>
          </a:p>
        </p:txBody>
      </p:sp>
      <p:sp>
        <p:nvSpPr>
          <p:cNvPr id="13" name="TextBox 12"/>
          <p:cNvSpPr txBox="1"/>
          <p:nvPr/>
        </p:nvSpPr>
        <p:spPr>
          <a:xfrm>
            <a:off x="4454042" y="1709928"/>
            <a:ext cx="3283610" cy="438912"/>
          </a:xfrm>
          <a:prstGeom prst="rect">
            <a:avLst/>
          </a:prstGeom>
          <a:noFill/>
        </p:spPr>
        <p:txBody>
          <a:bodyPr wrap="square" anchor="t" lIns="0" rIns="0" tIns="0" bIns="0">
            <a:spAutoFit/>
          </a:bodyPr>
          <a:lstStyle/>
          <a:p>
            <a:pPr algn="l">
              <a:lnSpc>
                <a:spcPct val="105000"/>
              </a:lnSpc>
              <a:spcAft>
                <a:spcPts val="0"/>
              </a:spcAft>
            </a:pPr>
            <a:r>
              <a:rPr sz="1150" b="1">
                <a:solidFill>
                  <a:srgbClr val="E9EDF7"/>
                </a:solidFill>
                <a:latin typeface="Segoe UI Semibold"/>
              </a:rPr>
              <a:t>Three real AI models, shrunk to fit a phone</a:t>
            </a:r>
          </a:p>
        </p:txBody>
      </p:sp>
      <p:sp>
        <p:nvSpPr>
          <p:cNvPr id="14" name="TextBox 13"/>
          <p:cNvSpPr txBox="1"/>
          <p:nvPr/>
        </p:nvSpPr>
        <p:spPr>
          <a:xfrm>
            <a:off x="4454042" y="2185415"/>
            <a:ext cx="3283610" cy="1307592"/>
          </a:xfrm>
          <a:prstGeom prst="rect">
            <a:avLst/>
          </a:prstGeom>
          <a:noFill/>
        </p:spPr>
        <p:txBody>
          <a:bodyPr wrap="square" anchor="t" lIns="0" rIns="0" tIns="0" bIns="0">
            <a:spAutoFit/>
          </a:bodyPr>
          <a:lstStyle/>
          <a:p>
            <a:pPr algn="l">
              <a:lnSpc>
                <a:spcPct val="120000"/>
              </a:lnSpc>
              <a:spcAft>
                <a:spcPts val="400"/>
              </a:spcAft>
            </a:pPr>
            <a:r>
              <a:rPr sz="900" b="0">
                <a:solidFill>
                  <a:srgbClr val="8B95B3"/>
                </a:solidFill>
                <a:latin typeface="Segoe UI"/>
              </a:rPr>
              <a:t>— Text understanding — turns a sentence into comparable numbers. 188 KB.</a:t>
            </a:r>
          </a:p>
          <a:p>
            <a:pPr algn="l">
              <a:lnSpc>
                <a:spcPct val="120000"/>
              </a:lnSpc>
              <a:spcAft>
                <a:spcPts val="400"/>
              </a:spcAft>
            </a:pPr>
            <a:r>
              <a:rPr sz="900" b="0">
                <a:solidFill>
                  <a:srgbClr val="8B95B3"/>
                </a:solidFill>
                <a:latin typeface="Segoe UI"/>
              </a:rPr>
              <a:t>— Image recognition — real trained classifier, 1,000 categories. 3.9 MB.</a:t>
            </a:r>
          </a:p>
          <a:p>
            <a:pPr algn="l">
              <a:lnSpc>
                <a:spcPct val="120000"/>
              </a:lnSpc>
              <a:spcAft>
                <a:spcPts val="400"/>
              </a:spcAft>
            </a:pPr>
            <a:r>
              <a:rPr sz="900" b="0">
                <a:solidFill>
                  <a:srgbClr val="8B95B3"/>
                </a:solidFill>
                <a:latin typeface="Segoe UI"/>
              </a:rPr>
              <a:t>— Settings search — scores AI configurations to find the best one.</a:t>
            </a:r>
          </a:p>
        </p:txBody>
      </p:sp>
      <p:sp>
        <p:nvSpPr>
          <p:cNvPr id="15" name="Rectangle 14"/>
          <p:cNvSpPr/>
          <p:nvPr/>
        </p:nvSpPr>
        <p:spPr>
          <a:xfrm>
            <a:off x="4454042" y="3584448"/>
            <a:ext cx="20116" cy="365760"/>
          </a:xfrm>
          <a:prstGeom prst="rect">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54626" y="3584448"/>
            <a:ext cx="3183026" cy="365760"/>
          </a:xfrm>
          <a:prstGeom prst="rect">
            <a:avLst/>
          </a:prstGeom>
          <a:noFill/>
        </p:spPr>
        <p:txBody>
          <a:bodyPr wrap="square" anchor="t" lIns="0" rIns="0" tIns="0" bIns="0">
            <a:spAutoFit/>
          </a:bodyPr>
          <a:lstStyle/>
          <a:p>
            <a:pPr algn="l">
              <a:spcAft>
                <a:spcPts val="100"/>
              </a:spcAft>
            </a:pPr>
            <a:r>
              <a:rPr sz="650" b="1" spc="130">
                <a:solidFill>
                  <a:srgbClr val="4FE0BC"/>
                </a:solidFill>
                <a:latin typeface="Consolas"/>
              </a:rPr>
              <a:t>PLAINLY</a:t>
            </a:r>
          </a:p>
          <a:p>
            <a:pPr algn="l">
              <a:lnSpc>
                <a:spcPct val="118000"/>
              </a:lnSpc>
              <a:spcAft>
                <a:spcPts val="0"/>
              </a:spcAft>
            </a:pPr>
            <a:r>
              <a:rPr sz="850" b="0">
                <a:solidFill>
                  <a:srgbClr val="E9EDF7"/>
                </a:solidFill>
                <a:latin typeface="Segoe UI"/>
              </a:rPr>
              <a:t>We tested two versions of the photo model and kept the one that did not break on older phones.</a:t>
            </a:r>
          </a:p>
        </p:txBody>
      </p:sp>
      <p:sp>
        <p:nvSpPr>
          <p:cNvPr id="17" name="Rounded Rectangle 16"/>
          <p:cNvSpPr/>
          <p:nvPr/>
        </p:nvSpPr>
        <p:spPr>
          <a:xfrm>
            <a:off x="8112556" y="1325880"/>
            <a:ext cx="3576218" cy="2788920"/>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258860" y="1472184"/>
            <a:ext cx="3283610" cy="164592"/>
          </a:xfrm>
          <a:prstGeom prst="rect">
            <a:avLst/>
          </a:prstGeom>
          <a:noFill/>
        </p:spPr>
        <p:txBody>
          <a:bodyPr wrap="square" anchor="t" lIns="0" rIns="0" tIns="0" bIns="0">
            <a:spAutoFit/>
          </a:bodyPr>
          <a:lstStyle/>
          <a:p>
            <a:pPr algn="l">
              <a:spcAft>
                <a:spcPts val="0"/>
              </a:spcAft>
            </a:pPr>
            <a:r>
              <a:rPr sz="750" b="0" spc="130">
                <a:solidFill>
                  <a:srgbClr val="8B95B3"/>
                </a:solidFill>
                <a:latin typeface="Consolas"/>
              </a:rPr>
              <a:t>RESPECTING THE OWNER</a:t>
            </a:r>
          </a:p>
        </p:txBody>
      </p:sp>
      <p:sp>
        <p:nvSpPr>
          <p:cNvPr id="19" name="TextBox 18"/>
          <p:cNvSpPr txBox="1"/>
          <p:nvPr/>
        </p:nvSpPr>
        <p:spPr>
          <a:xfrm>
            <a:off x="8258860" y="1709928"/>
            <a:ext cx="3283610" cy="438912"/>
          </a:xfrm>
          <a:prstGeom prst="rect">
            <a:avLst/>
          </a:prstGeom>
          <a:noFill/>
        </p:spPr>
        <p:txBody>
          <a:bodyPr wrap="square" anchor="t" lIns="0" rIns="0" tIns="0" bIns="0">
            <a:spAutoFit/>
          </a:bodyPr>
          <a:lstStyle/>
          <a:p>
            <a:pPr algn="l">
              <a:lnSpc>
                <a:spcPct val="105000"/>
              </a:lnSpc>
              <a:spcAft>
                <a:spcPts val="0"/>
              </a:spcAft>
            </a:pPr>
            <a:r>
              <a:rPr sz="1150" b="1">
                <a:solidFill>
                  <a:srgbClr val="E9EDF7"/>
                </a:solidFill>
                <a:latin typeface="Segoe UI Semibold"/>
              </a:rPr>
              <a:t>The phone only works when it can genuinely spare the effort</a:t>
            </a:r>
          </a:p>
        </p:txBody>
      </p:sp>
      <p:sp>
        <p:nvSpPr>
          <p:cNvPr id="20" name="TextBox 19"/>
          <p:cNvSpPr txBox="1"/>
          <p:nvPr/>
        </p:nvSpPr>
        <p:spPr>
          <a:xfrm>
            <a:off x="8258860" y="2185415"/>
            <a:ext cx="3283610" cy="621792"/>
          </a:xfrm>
          <a:prstGeom prst="rect">
            <a:avLst/>
          </a:prstGeom>
          <a:noFill/>
        </p:spPr>
        <p:txBody>
          <a:bodyPr wrap="square" anchor="t" lIns="0" rIns="0" tIns="0" bIns="0">
            <a:spAutoFit/>
          </a:bodyPr>
          <a:lstStyle/>
          <a:p>
            <a:pPr algn="l">
              <a:lnSpc>
                <a:spcPct val="122000"/>
              </a:lnSpc>
              <a:spcAft>
                <a:spcPts val="0"/>
              </a:spcAft>
            </a:pPr>
            <a:r>
              <a:rPr sz="900" b="0">
                <a:solidFill>
                  <a:srgbClr val="8B95B3"/>
                </a:solidFill>
                <a:latin typeface="Segoe UI"/>
              </a:rPr>
              <a:t>Charging AND on free Wi-Fi AND screen off AND not warm. All four, re-checked before every single slice, on the phone and again on the server. We stop before the phone gets hot enough to notice — not after.</a:t>
            </a:r>
          </a:p>
        </p:txBody>
      </p:sp>
      <p:sp>
        <p:nvSpPr>
          <p:cNvPr id="21" name="Rectangle 20"/>
          <p:cNvSpPr/>
          <p:nvPr/>
        </p:nvSpPr>
        <p:spPr>
          <a:xfrm>
            <a:off x="8258860" y="3584448"/>
            <a:ext cx="20116" cy="365760"/>
          </a:xfrm>
          <a:prstGeom prst="rect">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59444" y="3584448"/>
            <a:ext cx="3183026" cy="365760"/>
          </a:xfrm>
          <a:prstGeom prst="rect">
            <a:avLst/>
          </a:prstGeom>
          <a:noFill/>
        </p:spPr>
        <p:txBody>
          <a:bodyPr wrap="square" anchor="t" lIns="0" rIns="0" tIns="0" bIns="0">
            <a:spAutoFit/>
          </a:bodyPr>
          <a:lstStyle/>
          <a:p>
            <a:pPr algn="l">
              <a:spcAft>
                <a:spcPts val="100"/>
              </a:spcAft>
            </a:pPr>
            <a:r>
              <a:rPr sz="650" b="1" spc="130">
                <a:solidFill>
                  <a:srgbClr val="4FE0BC"/>
                </a:solidFill>
                <a:latin typeface="Consolas"/>
              </a:rPr>
              <a:t>PLAINLY</a:t>
            </a:r>
          </a:p>
          <a:p>
            <a:pPr algn="l">
              <a:lnSpc>
                <a:spcPct val="118000"/>
              </a:lnSpc>
              <a:spcAft>
                <a:spcPts val="0"/>
              </a:spcAft>
            </a:pPr>
            <a:r>
              <a:rPr sz="850" b="0">
                <a:solidFill>
                  <a:srgbClr val="E9EDF7"/>
                </a:solidFill>
                <a:latin typeface="Segoe UI"/>
              </a:rPr>
              <a:t>Pick up your phone and it stops instantly. Your battery, data and evening are never touched.</a:t>
            </a:r>
          </a:p>
        </p:txBody>
      </p:sp>
      <p:sp>
        <p:nvSpPr>
          <p:cNvPr id="23" name="Rounded Rectangle 22"/>
          <p:cNvSpPr/>
          <p:nvPr/>
        </p:nvSpPr>
        <p:spPr>
          <a:xfrm>
            <a:off x="502920" y="4315968"/>
            <a:ext cx="5478627" cy="1600200"/>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9224" y="4462272"/>
            <a:ext cx="5186019" cy="164592"/>
          </a:xfrm>
          <a:prstGeom prst="rect">
            <a:avLst/>
          </a:prstGeom>
          <a:noFill/>
        </p:spPr>
        <p:txBody>
          <a:bodyPr wrap="square" anchor="t" lIns="0" rIns="0" tIns="0" bIns="0">
            <a:spAutoFit/>
          </a:bodyPr>
          <a:lstStyle/>
          <a:p>
            <a:pPr algn="l">
              <a:spcAft>
                <a:spcPts val="0"/>
              </a:spcAft>
            </a:pPr>
            <a:r>
              <a:rPr sz="750" b="0" spc="130">
                <a:solidFill>
                  <a:srgbClr val="8B95B3"/>
                </a:solidFill>
                <a:latin typeface="Consolas"/>
              </a:rPr>
              <a:t>WHY THIS IS GENUINELY PHONE-FIRST</a:t>
            </a:r>
          </a:p>
        </p:txBody>
      </p:sp>
      <p:sp>
        <p:nvSpPr>
          <p:cNvPr id="25" name="TextBox 24"/>
          <p:cNvSpPr txBox="1"/>
          <p:nvPr/>
        </p:nvSpPr>
        <p:spPr>
          <a:xfrm>
            <a:off x="649224" y="4700016"/>
            <a:ext cx="5186019" cy="1069848"/>
          </a:xfrm>
          <a:prstGeom prst="rect">
            <a:avLst/>
          </a:prstGeom>
          <a:noFill/>
        </p:spPr>
        <p:txBody>
          <a:bodyPr wrap="square" anchor="t" lIns="0" rIns="0" tIns="0" bIns="0">
            <a:spAutoFit/>
          </a:bodyPr>
          <a:lstStyle/>
          <a:p>
            <a:pPr algn="l">
              <a:lnSpc>
                <a:spcPct val="120000"/>
              </a:lnSpc>
              <a:spcAft>
                <a:spcPts val="400"/>
              </a:spcAft>
            </a:pPr>
            <a:r>
              <a:rPr sz="900" b="0">
                <a:solidFill>
                  <a:srgbClr val="8B95B3"/>
                </a:solidFill>
                <a:latin typeface="Segoe UI"/>
              </a:rPr>
              <a:t>— The phone is the engine — take the phones away and there is no product.</a:t>
            </a:r>
          </a:p>
          <a:p>
            <a:pPr algn="l">
              <a:lnSpc>
                <a:spcPct val="120000"/>
              </a:lnSpc>
              <a:spcAft>
                <a:spcPts val="400"/>
              </a:spcAft>
            </a:pPr>
            <a:r>
              <a:rPr sz="900" b="0">
                <a:solidFill>
                  <a:srgbClr val="8B95B3"/>
                </a:solidFill>
                <a:latin typeface="Segoe UI"/>
              </a:rPr>
              <a:t>— The phone is even the server. No laptop: a script runs the whole coordinator on one iQOO 15.</a:t>
            </a:r>
          </a:p>
          <a:p>
            <a:pPr algn="l">
              <a:lnSpc>
                <a:spcPct val="120000"/>
              </a:lnSpc>
              <a:spcAft>
                <a:spcPts val="400"/>
              </a:spcAft>
            </a:pPr>
            <a:r>
              <a:rPr sz="900" b="0">
                <a:solidFill>
                  <a:srgbClr val="8B95B3"/>
                </a:solidFill>
                <a:latin typeface="Segoe UI"/>
              </a:rPr>
              <a:t>— The phone is the control panel — submitting, watching, earnings, all on-device.</a:t>
            </a:r>
          </a:p>
          <a:p>
            <a:pPr algn="l">
              <a:lnSpc>
                <a:spcPct val="120000"/>
              </a:lnSpc>
              <a:spcAft>
                <a:spcPts val="400"/>
              </a:spcAft>
            </a:pPr>
            <a:r>
              <a:rPr sz="900" b="0">
                <a:solidFill>
                  <a:srgbClr val="8B95B3"/>
                </a:solidFill>
                <a:latin typeface="Segoe UI"/>
              </a:rPr>
              <a:t>— The phone set the rules. The 30-second hold and heat limit were chosen for phones.</a:t>
            </a:r>
          </a:p>
        </p:txBody>
      </p:sp>
      <p:sp>
        <p:nvSpPr>
          <p:cNvPr id="26" name="Rounded Rectangle 25"/>
          <p:cNvSpPr/>
          <p:nvPr/>
        </p:nvSpPr>
        <p:spPr>
          <a:xfrm>
            <a:off x="6210147" y="4315968"/>
            <a:ext cx="5478627" cy="1600200"/>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356451" y="4462272"/>
            <a:ext cx="5186019" cy="164592"/>
          </a:xfrm>
          <a:prstGeom prst="rect">
            <a:avLst/>
          </a:prstGeom>
          <a:noFill/>
        </p:spPr>
        <p:txBody>
          <a:bodyPr wrap="square" anchor="t" lIns="0" rIns="0" tIns="0" bIns="0">
            <a:spAutoFit/>
          </a:bodyPr>
          <a:lstStyle/>
          <a:p>
            <a:pPr algn="l">
              <a:spcAft>
                <a:spcPts val="0"/>
              </a:spcAft>
            </a:pPr>
            <a:r>
              <a:rPr sz="750" b="0" spc="130">
                <a:solidFill>
                  <a:srgbClr val="8B95B3"/>
                </a:solidFill>
                <a:latin typeface="Consolas"/>
              </a:rPr>
              <a:t>WHAT WE WILL MEASURE AT THE HACKATHON</a:t>
            </a:r>
          </a:p>
        </p:txBody>
      </p:sp>
      <p:sp>
        <p:nvSpPr>
          <p:cNvPr id="28" name="TextBox 27"/>
          <p:cNvSpPr txBox="1"/>
          <p:nvPr/>
        </p:nvSpPr>
        <p:spPr>
          <a:xfrm>
            <a:off x="6356451" y="4700016"/>
            <a:ext cx="5186019" cy="1069848"/>
          </a:xfrm>
          <a:prstGeom prst="rect">
            <a:avLst/>
          </a:prstGeom>
          <a:noFill/>
        </p:spPr>
        <p:txBody>
          <a:bodyPr wrap="square" anchor="t" lIns="0" rIns="0" tIns="0" bIns="0">
            <a:spAutoFit/>
          </a:bodyPr>
          <a:lstStyle/>
          <a:p>
            <a:pPr algn="l">
              <a:lnSpc>
                <a:spcPct val="120000"/>
              </a:lnSpc>
              <a:spcAft>
                <a:spcPts val="400"/>
              </a:spcAft>
            </a:pPr>
            <a:r>
              <a:rPr sz="900" b="0">
                <a:solidFill>
                  <a:srgbClr val="8B95B3"/>
                </a:solidFill>
                <a:latin typeface="Segoe UI"/>
              </a:rPr>
              <a:t>— Real numbers from the real chip — same slice on AI chip vs graphics chip vs processor, with speed and battery cost published.</a:t>
            </a:r>
          </a:p>
          <a:p>
            <a:pPr algn="l">
              <a:lnSpc>
                <a:spcPct val="120000"/>
              </a:lnSpc>
              <a:spcAft>
                <a:spcPts val="400"/>
              </a:spcAft>
            </a:pPr>
            <a:r>
              <a:rPr sz="900" b="0">
                <a:solidFill>
                  <a:srgbClr val="8B95B3"/>
                </a:solidFill>
                <a:latin typeface="Segoe UI"/>
              </a:rPr>
              <a:t>— An hour-long heat test to tune our temperature limit against how the iQOO 15 really behaves.</a:t>
            </a:r>
          </a:p>
          <a:p>
            <a:pPr algn="l">
              <a:lnSpc>
                <a:spcPct val="120000"/>
              </a:lnSpc>
              <a:spcAft>
                <a:spcPts val="400"/>
              </a:spcAft>
            </a:pPr>
            <a:r>
              <a:rPr sz="900" b="0">
                <a:solidFill>
                  <a:srgbClr val="8B95B3"/>
                </a:solidFill>
                <a:latin typeface="Segoe UI"/>
              </a:rPr>
              <a:t>— A big-screen judging view: mirror the live progress grid using vivo's multi-screen feature.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B14"/>
        </a:solidFill>
        <a:effectLst/>
      </p:bgPr>
    </p:bg>
    <p:spTree>
      <p:nvGrpSpPr>
        <p:cNvPr id="1" name=""/>
        <p:cNvGrpSpPr/>
        <p:nvPr/>
      </p:nvGrpSpPr>
      <p:grpSpPr/>
      <p:sp>
        <p:nvSpPr>
          <p:cNvPr id="2" name="TextBox 1"/>
          <p:cNvSpPr txBox="1"/>
          <p:nvPr/>
        </p:nvSpPr>
        <p:spPr>
          <a:xfrm>
            <a:off x="502920" y="310896"/>
            <a:ext cx="11185855" cy="219456"/>
          </a:xfrm>
          <a:prstGeom prst="rect">
            <a:avLst/>
          </a:prstGeom>
          <a:noFill/>
        </p:spPr>
        <p:txBody>
          <a:bodyPr wrap="square" anchor="t" lIns="0" rIns="0" tIns="0" bIns="0">
            <a:spAutoFit/>
          </a:bodyPr>
          <a:lstStyle/>
          <a:p>
            <a:pPr algn="l">
              <a:spcAft>
                <a:spcPts val="0"/>
              </a:spcAft>
            </a:pPr>
            <a:r>
              <a:rPr sz="900" b="0" spc="160">
                <a:solidFill>
                  <a:srgbClr val="8B95B3"/>
                </a:solidFill>
                <a:latin typeface="Consolas"/>
              </a:rPr>
              <a:t>06 / 06     THE 30 HOURS · GROWTH · TEAM</a:t>
            </a:r>
          </a:p>
        </p:txBody>
      </p:sp>
      <p:sp>
        <p:nvSpPr>
          <p:cNvPr id="3" name="Rectangle 2"/>
          <p:cNvSpPr/>
          <p:nvPr/>
        </p:nvSpPr>
        <p:spPr>
          <a:xfrm>
            <a:off x="502920" y="576072"/>
            <a:ext cx="11185855" cy="10972"/>
          </a:xfrm>
          <a:prstGeom prst="rect">
            <a:avLst/>
          </a:prstGeom>
          <a:solidFill>
            <a:srgbClr val="26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731520"/>
            <a:ext cx="11185855" cy="914400"/>
          </a:xfrm>
          <a:prstGeom prst="rect">
            <a:avLst/>
          </a:prstGeom>
          <a:noFill/>
        </p:spPr>
        <p:txBody>
          <a:bodyPr wrap="square" anchor="t" lIns="0" rIns="0" tIns="0" bIns="0">
            <a:spAutoFit/>
          </a:bodyPr>
          <a:lstStyle/>
          <a:p>
            <a:pPr algn="l">
              <a:lnSpc>
                <a:spcPct val="95000"/>
              </a:lnSpc>
              <a:spcAft>
                <a:spcPts val="0"/>
              </a:spcAft>
            </a:pPr>
            <a:r>
              <a:rPr sz="2300" b="1">
                <a:solidFill>
                  <a:srgbClr val="E9EDF7"/>
                </a:solidFill>
                <a:latin typeface="Segoe UI Semibold"/>
              </a:rPr>
              <a:t>Most teams will spend the first day building the hard middle. Ours is already done.</a:t>
            </a:r>
          </a:p>
        </p:txBody>
      </p:sp>
      <p:graphicFrame>
        <p:nvGraphicFramePr>
          <p:cNvPr id="5" name="Table 4"/>
          <p:cNvGraphicFramePr>
            <a:graphicFrameLocks noGrp="1"/>
          </p:cNvGraphicFramePr>
          <p:nvPr/>
        </p:nvGraphicFramePr>
        <p:xfrm>
          <a:off x="502920" y="1371600"/>
          <a:ext cx="11185853" cy="2240280"/>
        </p:xfrm>
        <a:graphic>
          <a:graphicData uri="http://schemas.openxmlformats.org/drawingml/2006/table">
            <a:tbl>
              <a:tblPr>
                <a:tableStyleId>{5C22544A-7EE6-4342-B048-85BDC9FD1C3A}</a:tableStyleId>
              </a:tblPr>
              <a:tblGrid>
                <a:gridCol w="783009"/>
                <a:gridCol w="3132039"/>
                <a:gridCol w="2460888"/>
                <a:gridCol w="4809917"/>
              </a:tblGrid>
              <a:tr h="320040">
                <a:tc>
                  <a:txBody>
                    <a:bodyPr wrap="square"/>
                    <a:lstStyle/>
                    <a:p>
                      <a:r>
                        <a:rPr sz="750" b="0">
                          <a:solidFill>
                            <a:srgbClr val="8B95B3"/>
                          </a:solidFill>
                          <a:latin typeface="Consolas"/>
                        </a:rPr>
                        <a:t>HOURS</a:t>
                      </a:r>
                    </a:p>
                  </a:txBody>
                  <a:tcPr marL="91440" marR="73152" marT="45720" marB="45720" anchor="ctr">
                    <a:solidFill>
                      <a:srgbClr val="161E31"/>
                    </a:solidFill>
                  </a:tcPr>
                </a:tc>
                <a:tc>
                  <a:txBody>
                    <a:bodyPr wrap="square"/>
                    <a:lstStyle/>
                    <a:p>
                      <a:r>
                        <a:rPr sz="750" b="0">
                          <a:solidFill>
                            <a:srgbClr val="8B95B3"/>
                          </a:solidFill>
                          <a:latin typeface="Consolas"/>
                        </a:rPr>
                        <a:t>THE MILESTONE</a:t>
                      </a:r>
                    </a:p>
                  </a:txBody>
                  <a:tcPr marL="91440" marR="73152" marT="45720" marB="45720" anchor="ctr">
                    <a:solidFill>
                      <a:srgbClr val="161E31"/>
                    </a:solidFill>
                  </a:tcPr>
                </a:tc>
                <a:tc>
                  <a:txBody>
                    <a:bodyPr wrap="square"/>
                    <a:lstStyle/>
                    <a:p>
                      <a:r>
                        <a:rPr sz="750" b="0">
                          <a:solidFill>
                            <a:srgbClr val="8B95B3"/>
                          </a:solidFill>
                          <a:latin typeface="Consolas"/>
                        </a:rPr>
                        <a:t>WHERE WE ALREADY STAND</a:t>
                      </a:r>
                    </a:p>
                  </a:txBody>
                  <a:tcPr marL="91440" marR="73152" marT="45720" marB="45720" anchor="ctr">
                    <a:solidFill>
                      <a:srgbClr val="161E31"/>
                    </a:solidFill>
                  </a:tcPr>
                </a:tc>
                <a:tc>
                  <a:txBody>
                    <a:bodyPr wrap="square"/>
                    <a:lstStyle/>
                    <a:p>
                      <a:r>
                        <a:rPr sz="750" b="0">
                          <a:solidFill>
                            <a:srgbClr val="8B95B3"/>
                          </a:solidFill>
                          <a:latin typeface="Consolas"/>
                        </a:rPr>
                        <a:t>SO WE SPEND THE TIME ON</a:t>
                      </a:r>
                    </a:p>
                  </a:txBody>
                  <a:tcPr marL="91440" marR="73152" marT="45720" marB="45720" anchor="ctr">
                    <a:solidFill>
                      <a:srgbClr val="161E31"/>
                    </a:solidFill>
                  </a:tcPr>
                </a:tc>
              </a:tr>
              <a:tr h="320040">
                <a:tc>
                  <a:txBody>
                    <a:bodyPr wrap="square"/>
                    <a:lstStyle/>
                    <a:p>
                      <a:r>
                        <a:rPr sz="950" b="1">
                          <a:solidFill>
                            <a:srgbClr val="E9EDF7"/>
                          </a:solidFill>
                          <a:latin typeface="Segoe UI"/>
                        </a:rPr>
                        <a:t>0–3</a:t>
                      </a:r>
                    </a:p>
                  </a:txBody>
                  <a:tcPr marL="91440" marR="73152" marT="45720" marB="45720" anchor="ctr">
                    <a:solidFill>
                      <a:srgbClr val="070B14"/>
                    </a:solidFill>
                  </a:tcPr>
                </a:tc>
                <a:tc>
                  <a:txBody>
                    <a:bodyPr wrap="square"/>
                    <a:lstStyle/>
                    <a:p>
                      <a:r>
                        <a:rPr sz="950" b="0">
                          <a:solidFill>
                            <a:srgbClr val="8B95B3"/>
                          </a:solidFill>
                          <a:latin typeface="Segoe UI"/>
                        </a:rPr>
                        <a:t>Get an AI model running on the phone itself</a:t>
                      </a:r>
                    </a:p>
                  </a:txBody>
                  <a:tcPr marL="91440" marR="73152" marT="45720" marB="45720" anchor="ctr">
                    <a:solidFill>
                      <a:srgbClr val="070B14"/>
                    </a:solidFill>
                  </a:tcPr>
                </a:tc>
                <a:tc>
                  <a:txBody>
                    <a:bodyPr wrap="square"/>
                    <a:lstStyle/>
                    <a:p>
                      <a:r>
                        <a:rPr sz="950" b="0">
                          <a:solidFill>
                            <a:srgbClr val="8B95B3"/>
                          </a:solidFill>
                          <a:latin typeface="Segoe UI"/>
                        </a:rPr>
                        <a:t>Not tried on real hardware</a:t>
                      </a:r>
                    </a:p>
                  </a:txBody>
                  <a:tcPr marL="91440" marR="73152" marT="45720" marB="45720" anchor="ctr">
                    <a:solidFill>
                      <a:srgbClr val="070B14"/>
                    </a:solidFill>
                  </a:tcPr>
                </a:tc>
                <a:tc>
                  <a:txBody>
                    <a:bodyPr wrap="square"/>
                    <a:lstStyle/>
                    <a:p>
                      <a:r>
                        <a:rPr sz="950" b="0">
                          <a:solidFill>
                            <a:srgbClr val="8B95B3"/>
                          </a:solidFill>
                          <a:latin typeface="Segoe UI"/>
                        </a:rPr>
                        <a:t>First real run on the iQOO 15. Our only unproven step.</a:t>
                      </a:r>
                    </a:p>
                  </a:txBody>
                  <a:tcPr marL="91440" marR="73152" marT="45720" marB="45720" anchor="ctr">
                    <a:solidFill>
                      <a:srgbClr val="070B14"/>
                    </a:solidFill>
                  </a:tcPr>
                </a:tc>
              </a:tr>
              <a:tr h="320040">
                <a:tc>
                  <a:txBody>
                    <a:bodyPr wrap="square"/>
                    <a:lstStyle/>
                    <a:p>
                      <a:r>
                        <a:rPr sz="950" b="1">
                          <a:solidFill>
                            <a:srgbClr val="E9EDF7"/>
                          </a:solidFill>
                          <a:latin typeface="Segoe UI"/>
                        </a:rPr>
                        <a:t>3–8</a:t>
                      </a:r>
                    </a:p>
                  </a:txBody>
                  <a:tcPr marL="91440" marR="73152" marT="45720" marB="45720" anchor="ctr">
                    <a:solidFill>
                      <a:srgbClr val="070B14"/>
                    </a:solidFill>
                  </a:tcPr>
                </a:tc>
                <a:tc>
                  <a:txBody>
                    <a:bodyPr wrap="square"/>
                    <a:lstStyle/>
                    <a:p>
                      <a:r>
                        <a:rPr sz="950" b="0">
                          <a:solidFill>
                            <a:srgbClr val="8B95B3"/>
                          </a:solidFill>
                          <a:latin typeface="Segoe UI"/>
                        </a:rPr>
                        <a:t>Background service that fetches and runs work</a:t>
                      </a:r>
                    </a:p>
                  </a:txBody>
                  <a:tcPr marL="91440" marR="73152" marT="45720" marB="45720" anchor="ctr">
                    <a:solidFill>
                      <a:srgbClr val="070B14"/>
                    </a:solidFill>
                  </a:tcPr>
                </a:tc>
                <a:tc>
                  <a:txBody>
                    <a:bodyPr wrap="square"/>
                    <a:lstStyle/>
                    <a:p>
                      <a:r>
                        <a:rPr sz="950" b="0">
                          <a:solidFill>
                            <a:srgbClr val="8B95B3"/>
                          </a:solidFill>
                          <a:latin typeface="Segoe UI"/>
                        </a:rPr>
                        <a:t>Written, not device-tested</a:t>
                      </a:r>
                    </a:p>
                  </a:txBody>
                  <a:tcPr marL="91440" marR="73152" marT="45720" marB="45720" anchor="ctr">
                    <a:solidFill>
                      <a:srgbClr val="070B14"/>
                    </a:solidFill>
                  </a:tcPr>
                </a:tc>
                <a:tc>
                  <a:txBody>
                    <a:bodyPr wrap="square"/>
                    <a:lstStyle/>
                    <a:p>
                      <a:r>
                        <a:rPr sz="950" b="0">
                          <a:solidFill>
                            <a:srgbClr val="8B95B3"/>
                          </a:solidFill>
                          <a:latin typeface="Segoe UI"/>
                        </a:rPr>
                        <a:t>Prove the backup path on hardware, then the AI chip.</a:t>
                      </a:r>
                    </a:p>
                  </a:txBody>
                  <a:tcPr marL="91440" marR="73152" marT="45720" marB="45720" anchor="ctr">
                    <a:solidFill>
                      <a:srgbClr val="070B14"/>
                    </a:solidFill>
                  </a:tcPr>
                </a:tc>
              </a:tr>
              <a:tr h="320040">
                <a:tc>
                  <a:txBody>
                    <a:bodyPr wrap="square"/>
                    <a:lstStyle/>
                    <a:p>
                      <a:r>
                        <a:rPr sz="950" b="1">
                          <a:solidFill>
                            <a:srgbClr val="4FE0BC"/>
                          </a:solidFill>
                          <a:latin typeface="Segoe UI"/>
                        </a:rPr>
                        <a:t>8–14</a:t>
                      </a:r>
                    </a:p>
                  </a:txBody>
                  <a:tcPr marL="91440" marR="73152" marT="45720" marB="45720" anchor="ctr">
                    <a:solidFill>
                      <a:srgbClr val="070B14"/>
                    </a:solidFill>
                  </a:tcPr>
                </a:tc>
                <a:tc>
                  <a:txBody>
                    <a:bodyPr wrap="square"/>
                    <a:lstStyle/>
                    <a:p>
                      <a:r>
                        <a:rPr sz="950" b="1">
                          <a:solidFill>
                            <a:srgbClr val="E9EDF7"/>
                          </a:solidFill>
                          <a:latin typeface="Segoe UI"/>
                        </a:rPr>
                        <a:t>Splitting, scheduling, reassembling, paying</a:t>
                      </a:r>
                    </a:p>
                  </a:txBody>
                  <a:tcPr marL="91440" marR="73152" marT="45720" marB="45720" anchor="ctr">
                    <a:solidFill>
                      <a:srgbClr val="070B14"/>
                    </a:solidFill>
                  </a:tcPr>
                </a:tc>
                <a:tc>
                  <a:txBody>
                    <a:bodyPr wrap="square"/>
                    <a:lstStyle/>
                    <a:p>
                      <a:r>
                        <a:rPr sz="950" b="1">
                          <a:solidFill>
                            <a:srgbClr val="E9EDF7"/>
                          </a:solidFill>
                          <a:latin typeface="Segoe UI"/>
                        </a:rPr>
                        <a:t>BUILT AND TESTED</a:t>
                      </a:r>
                    </a:p>
                  </a:txBody>
                  <a:tcPr marL="91440" marR="73152" marT="45720" marB="45720" anchor="ctr">
                    <a:solidFill>
                      <a:srgbClr val="070B14"/>
                    </a:solidFill>
                  </a:tcPr>
                </a:tc>
                <a:tc>
                  <a:txBody>
                    <a:bodyPr wrap="square"/>
                    <a:lstStyle/>
                    <a:p>
                      <a:r>
                        <a:rPr sz="950" b="1">
                          <a:solidFill>
                            <a:srgbClr val="E9EDF7"/>
                          </a:solidFill>
                          <a:latin typeface="Segoe UI"/>
                        </a:rPr>
                        <a:t>Six hours we get back — measuring the chip, tuning for heat.</a:t>
                      </a:r>
                    </a:p>
                  </a:txBody>
                  <a:tcPr marL="91440" marR="73152" marT="45720" marB="45720" anchor="ctr">
                    <a:solidFill>
                      <a:srgbClr val="070B14"/>
                    </a:solidFill>
                  </a:tcPr>
                </a:tc>
              </a:tr>
              <a:tr h="320040">
                <a:tc>
                  <a:txBody>
                    <a:bodyPr wrap="square"/>
                    <a:lstStyle/>
                    <a:p>
                      <a:r>
                        <a:rPr sz="950" b="1">
                          <a:solidFill>
                            <a:srgbClr val="E9EDF7"/>
                          </a:solidFill>
                          <a:latin typeface="Segoe UI"/>
                        </a:rPr>
                        <a:t>14–20</a:t>
                      </a:r>
                    </a:p>
                  </a:txBody>
                  <a:tcPr marL="91440" marR="73152" marT="45720" marB="45720" anchor="ctr">
                    <a:solidFill>
                      <a:srgbClr val="070B14"/>
                    </a:solidFill>
                  </a:tcPr>
                </a:tc>
                <a:tc>
                  <a:txBody>
                    <a:bodyPr wrap="square"/>
                    <a:lstStyle/>
                    <a:p>
                      <a:r>
                        <a:rPr sz="950" b="0">
                          <a:solidFill>
                            <a:srgbClr val="8B95B3"/>
                          </a:solidFill>
                          <a:latin typeface="Segoe UI"/>
                        </a:rPr>
                        <a:t>End to end: one phone, then many</a:t>
                      </a:r>
                    </a:p>
                  </a:txBody>
                  <a:tcPr marL="91440" marR="73152" marT="45720" marB="45720" anchor="ctr">
                    <a:solidFill>
                      <a:srgbClr val="070B14"/>
                    </a:solidFill>
                  </a:tcPr>
                </a:tc>
                <a:tc>
                  <a:txBody>
                    <a:bodyPr wrap="square"/>
                    <a:lstStyle/>
                    <a:p>
                      <a:r>
                        <a:rPr sz="950" b="0">
                          <a:solidFill>
                            <a:srgbClr val="8B95B3"/>
                          </a:solidFill>
                          <a:latin typeface="Segoe UI"/>
                        </a:rPr>
                        <a:t>Proven with fake phones</a:t>
                      </a:r>
                    </a:p>
                  </a:txBody>
                  <a:tcPr marL="91440" marR="73152" marT="45720" marB="45720" anchor="ctr">
                    <a:solidFill>
                      <a:srgbClr val="070B14"/>
                    </a:solidFill>
                  </a:tcPr>
                </a:tc>
                <a:tc>
                  <a:txBody>
                    <a:bodyPr wrap="square"/>
                    <a:lstStyle/>
                    <a:p>
                      <a:r>
                        <a:rPr sz="950" b="0">
                          <a:solidFill>
                            <a:srgbClr val="8B95B3"/>
                          </a:solidFill>
                          <a:latin typeface="Segoe UI"/>
                        </a:rPr>
                        <a:t>Swap the fake fleet for four real ones. Nothing else changes.</a:t>
                      </a:r>
                    </a:p>
                  </a:txBody>
                  <a:tcPr marL="91440" marR="73152" marT="45720" marB="45720" anchor="ctr">
                    <a:solidFill>
                      <a:srgbClr val="070B14"/>
                    </a:solidFill>
                  </a:tcPr>
                </a:tc>
              </a:tr>
              <a:tr h="320040">
                <a:tc>
                  <a:txBody>
                    <a:bodyPr wrap="square"/>
                    <a:lstStyle/>
                    <a:p>
                      <a:r>
                        <a:rPr sz="950" b="1">
                          <a:solidFill>
                            <a:srgbClr val="E9EDF7"/>
                          </a:solidFill>
                          <a:latin typeface="Segoe UI"/>
                        </a:rPr>
                        <a:t>20–26</a:t>
                      </a:r>
                    </a:p>
                  </a:txBody>
                  <a:tcPr marL="91440" marR="73152" marT="45720" marB="45720" anchor="ctr">
                    <a:solidFill>
                      <a:srgbClr val="070B14"/>
                    </a:solidFill>
                  </a:tcPr>
                </a:tc>
                <a:tc>
                  <a:txBody>
                    <a:bodyPr wrap="square"/>
                    <a:lstStyle/>
                    <a:p>
                      <a:r>
                        <a:rPr sz="950" b="0">
                          <a:solidFill>
                            <a:srgbClr val="8B95B3"/>
                          </a:solidFill>
                          <a:latin typeface="Segoe UI"/>
                        </a:rPr>
                        <a:t>Job-submission screen and live progress</a:t>
                      </a:r>
                    </a:p>
                  </a:txBody>
                  <a:tcPr marL="91440" marR="73152" marT="45720" marB="45720" anchor="ctr">
                    <a:solidFill>
                      <a:srgbClr val="070B14"/>
                    </a:solidFill>
                  </a:tcPr>
                </a:tc>
                <a:tc>
                  <a:txBody>
                    <a:bodyPr wrap="square"/>
                    <a:lstStyle/>
                    <a:p>
                      <a:r>
                        <a:rPr sz="950" b="0">
                          <a:solidFill>
                            <a:srgbClr val="8B95B3"/>
                          </a:solidFill>
                          <a:latin typeface="Segoe UI"/>
                        </a:rPr>
                        <a:t>Built</a:t>
                      </a:r>
                    </a:p>
                  </a:txBody>
                  <a:tcPr marL="91440" marR="73152" marT="45720" marB="45720" anchor="ctr">
                    <a:solidFill>
                      <a:srgbClr val="070B14"/>
                    </a:solidFill>
                  </a:tcPr>
                </a:tc>
                <a:tc>
                  <a:txBody>
                    <a:bodyPr wrap="square"/>
                    <a:lstStyle/>
                    <a:p>
                      <a:r>
                        <a:rPr sz="950" b="0">
                          <a:solidFill>
                            <a:srgbClr val="8B95B3"/>
                          </a:solidFill>
                          <a:latin typeface="Segoe UI"/>
                        </a:rPr>
                        <a:t>Polish, the big-screen judging view, earnings history.</a:t>
                      </a:r>
                    </a:p>
                  </a:txBody>
                  <a:tcPr marL="91440" marR="73152" marT="45720" marB="45720" anchor="ctr">
                    <a:solidFill>
                      <a:srgbClr val="070B14"/>
                    </a:solidFill>
                  </a:tcPr>
                </a:tc>
              </a:tr>
              <a:tr h="320040">
                <a:tc>
                  <a:txBody>
                    <a:bodyPr wrap="square"/>
                    <a:lstStyle/>
                    <a:p>
                      <a:r>
                        <a:rPr sz="950" b="1">
                          <a:solidFill>
                            <a:srgbClr val="E9EDF7"/>
                          </a:solidFill>
                          <a:latin typeface="Segoe UI"/>
                        </a:rPr>
                        <a:t>26–30</a:t>
                      </a:r>
                    </a:p>
                  </a:txBody>
                  <a:tcPr marL="91440" marR="73152" marT="45720" marB="45720" anchor="ctr">
                    <a:solidFill>
                      <a:srgbClr val="070B14"/>
                    </a:solidFill>
                  </a:tcPr>
                </a:tc>
                <a:tc>
                  <a:txBody>
                    <a:bodyPr wrap="square"/>
                    <a:lstStyle/>
                    <a:p>
                      <a:r>
                        <a:rPr sz="950" b="0">
                          <a:solidFill>
                            <a:srgbClr val="8B95B3"/>
                          </a:solidFill>
                          <a:latin typeface="Segoe UI"/>
                        </a:rPr>
                        <a:t>Rehearse, break it on purpose, keep a buffer</a:t>
                      </a:r>
                    </a:p>
                  </a:txBody>
                  <a:tcPr marL="91440" marR="73152" marT="45720" marB="45720" anchor="ctr">
                    <a:solidFill>
                      <a:srgbClr val="070B14"/>
                    </a:solidFill>
                  </a:tcPr>
                </a:tc>
                <a:tc>
                  <a:txBody>
                    <a:bodyPr wrap="square"/>
                    <a:lstStyle/>
                    <a:p>
                      <a:r>
                        <a:rPr sz="950" b="0">
                          <a:solidFill>
                            <a:srgbClr val="8B95B3"/>
                          </a:solidFill>
                          <a:latin typeface="Segoe UI"/>
                        </a:rPr>
                        <a:t>Break-test automated</a:t>
                      </a:r>
                    </a:p>
                  </a:txBody>
                  <a:tcPr marL="91440" marR="73152" marT="45720" marB="45720" anchor="ctr">
                    <a:solidFill>
                      <a:srgbClr val="070B14"/>
                    </a:solidFill>
                  </a:tcPr>
                </a:tc>
                <a:tc>
                  <a:txBody>
                    <a:bodyPr wrap="square"/>
                    <a:lstStyle/>
                    <a:p>
                      <a:r>
                        <a:rPr sz="950" b="0">
                          <a:solidFill>
                            <a:srgbClr val="8B95B3"/>
                          </a:solidFill>
                          <a:latin typeface="Segoe UI"/>
                        </a:rPr>
                        <a:t>Yank a phone on stage, on purpose, and let it recover live.</a:t>
                      </a:r>
                    </a:p>
                  </a:txBody>
                  <a:tcPr marL="91440" marR="73152" marT="45720" marB="45720" anchor="ctr">
                    <a:solidFill>
                      <a:srgbClr val="070B14"/>
                    </a:solidFill>
                  </a:tcPr>
                </a:tc>
              </a:tr>
            </a:tbl>
          </a:graphicData>
        </a:graphic>
      </p:graphicFrame>
      <p:sp>
        <p:nvSpPr>
          <p:cNvPr id="6" name="Rounded Rectangle 5"/>
          <p:cNvSpPr/>
          <p:nvPr/>
        </p:nvSpPr>
        <p:spPr>
          <a:xfrm>
            <a:off x="502920" y="3794760"/>
            <a:ext cx="3576218" cy="2148840"/>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49224" y="3941064"/>
            <a:ext cx="3283610" cy="164592"/>
          </a:xfrm>
          <a:prstGeom prst="rect">
            <a:avLst/>
          </a:prstGeom>
          <a:noFill/>
        </p:spPr>
        <p:txBody>
          <a:bodyPr wrap="square" anchor="t" lIns="0" rIns="0" tIns="0" bIns="0">
            <a:spAutoFit/>
          </a:bodyPr>
          <a:lstStyle/>
          <a:p>
            <a:pPr algn="l">
              <a:spcAft>
                <a:spcPts val="0"/>
              </a:spcAft>
            </a:pPr>
            <a:r>
              <a:rPr sz="750" b="0" spc="130">
                <a:solidFill>
                  <a:srgbClr val="8B95B3"/>
                </a:solidFill>
                <a:latin typeface="Consolas"/>
              </a:rPr>
              <a:t>CAN IT GROW?</a:t>
            </a:r>
          </a:p>
        </p:txBody>
      </p:sp>
      <p:sp>
        <p:nvSpPr>
          <p:cNvPr id="8" name="TextBox 7"/>
          <p:cNvSpPr txBox="1"/>
          <p:nvPr/>
        </p:nvSpPr>
        <p:spPr>
          <a:xfrm>
            <a:off x="649224" y="4178808"/>
            <a:ext cx="3283610" cy="438912"/>
          </a:xfrm>
          <a:prstGeom prst="rect">
            <a:avLst/>
          </a:prstGeom>
          <a:noFill/>
        </p:spPr>
        <p:txBody>
          <a:bodyPr wrap="square" anchor="t" lIns="0" rIns="0" tIns="0" bIns="0">
            <a:spAutoFit/>
          </a:bodyPr>
          <a:lstStyle/>
          <a:p>
            <a:pPr algn="l">
              <a:lnSpc>
                <a:spcPct val="105000"/>
              </a:lnSpc>
              <a:spcAft>
                <a:spcPts val="0"/>
              </a:spcAft>
            </a:pPr>
            <a:r>
              <a:rPr sz="1150" b="1">
                <a:solidFill>
                  <a:srgbClr val="E9EDF7"/>
                </a:solidFill>
                <a:latin typeface="Segoe UI Semibold"/>
              </a:rPr>
              <a:t>Designed for a crowd, not for four phones</a:t>
            </a:r>
          </a:p>
        </p:txBody>
      </p:sp>
      <p:sp>
        <p:nvSpPr>
          <p:cNvPr id="9" name="TextBox 8"/>
          <p:cNvSpPr txBox="1"/>
          <p:nvPr/>
        </p:nvSpPr>
        <p:spPr>
          <a:xfrm>
            <a:off x="649224" y="4654296"/>
            <a:ext cx="3283610" cy="777240"/>
          </a:xfrm>
          <a:prstGeom prst="rect">
            <a:avLst/>
          </a:prstGeom>
          <a:noFill/>
        </p:spPr>
        <p:txBody>
          <a:bodyPr wrap="square" anchor="t" lIns="0" rIns="0" tIns="0" bIns="0">
            <a:spAutoFit/>
          </a:bodyPr>
          <a:lstStyle/>
          <a:p>
            <a:pPr algn="l">
              <a:lnSpc>
                <a:spcPct val="122000"/>
              </a:lnSpc>
              <a:spcAft>
                <a:spcPts val="0"/>
              </a:spcAft>
            </a:pPr>
            <a:r>
              <a:rPr sz="900" b="0">
                <a:solidFill>
                  <a:srgbClr val="8B95B3"/>
                </a:solidFill>
                <a:latin typeface="Segoe UI"/>
              </a:rPr>
              <a:t>Handing out a slice costs the same whether ten phones are asking or ten thousand. The server never tracks who is alive — the hold clock does it free. Going from 4 phones to 4,000 means a bigger queue and more copies of the same server.</a:t>
            </a:r>
          </a:p>
        </p:txBody>
      </p:sp>
      <p:sp>
        <p:nvSpPr>
          <p:cNvPr id="10" name="Rectangle 9"/>
          <p:cNvSpPr/>
          <p:nvPr/>
        </p:nvSpPr>
        <p:spPr>
          <a:xfrm>
            <a:off x="649224" y="5413248"/>
            <a:ext cx="20116" cy="365760"/>
          </a:xfrm>
          <a:prstGeom prst="rect">
            <a:avLst/>
          </a:prstGeom>
          <a:solidFill>
            <a:srgbClr val="4FE0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5413248"/>
            <a:ext cx="3183026" cy="365760"/>
          </a:xfrm>
          <a:prstGeom prst="rect">
            <a:avLst/>
          </a:prstGeom>
          <a:noFill/>
        </p:spPr>
        <p:txBody>
          <a:bodyPr wrap="square" anchor="t" lIns="0" rIns="0" tIns="0" bIns="0">
            <a:spAutoFit/>
          </a:bodyPr>
          <a:lstStyle/>
          <a:p>
            <a:pPr algn="l">
              <a:spcAft>
                <a:spcPts val="100"/>
              </a:spcAft>
            </a:pPr>
            <a:r>
              <a:rPr sz="650" b="1" spc="130">
                <a:solidFill>
                  <a:srgbClr val="4FE0BC"/>
                </a:solidFill>
                <a:latin typeface="Consolas"/>
              </a:rPr>
              <a:t>PLAINLY</a:t>
            </a:r>
          </a:p>
          <a:p>
            <a:pPr algn="l">
              <a:lnSpc>
                <a:spcPct val="118000"/>
              </a:lnSpc>
              <a:spcAft>
                <a:spcPts val="0"/>
              </a:spcAft>
            </a:pPr>
            <a:r>
              <a:rPr sz="850" b="0">
                <a:solidFill>
                  <a:srgbClr val="E9EDF7"/>
                </a:solidFill>
                <a:latin typeface="Segoe UI"/>
              </a:rPr>
              <a:t>Nothing in the design gets slower as more people join.</a:t>
            </a:r>
          </a:p>
        </p:txBody>
      </p:sp>
      <p:sp>
        <p:nvSpPr>
          <p:cNvPr id="12" name="Rounded Rectangle 11"/>
          <p:cNvSpPr/>
          <p:nvPr/>
        </p:nvSpPr>
        <p:spPr>
          <a:xfrm>
            <a:off x="4307738" y="3794760"/>
            <a:ext cx="3576218" cy="2148840"/>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454042" y="3941064"/>
            <a:ext cx="3283610" cy="164592"/>
          </a:xfrm>
          <a:prstGeom prst="rect">
            <a:avLst/>
          </a:prstGeom>
          <a:noFill/>
        </p:spPr>
        <p:txBody>
          <a:bodyPr wrap="square" anchor="t" lIns="0" rIns="0" tIns="0" bIns="0">
            <a:spAutoFit/>
          </a:bodyPr>
          <a:lstStyle/>
          <a:p>
            <a:pPr algn="l">
              <a:spcAft>
                <a:spcPts val="0"/>
              </a:spcAft>
            </a:pPr>
            <a:r>
              <a:rPr sz="750" b="0" spc="130">
                <a:solidFill>
                  <a:srgbClr val="8B95B3"/>
                </a:solidFill>
                <a:latin typeface="Consolas"/>
              </a:rPr>
              <a:t>WHO WOULD ACTUALLY USE IT</a:t>
            </a:r>
          </a:p>
        </p:txBody>
      </p:sp>
      <p:sp>
        <p:nvSpPr>
          <p:cNvPr id="14" name="TextBox 13"/>
          <p:cNvSpPr txBox="1"/>
          <p:nvPr/>
        </p:nvSpPr>
        <p:spPr>
          <a:xfrm>
            <a:off x="4454042" y="4178808"/>
            <a:ext cx="3283610" cy="438912"/>
          </a:xfrm>
          <a:prstGeom prst="rect">
            <a:avLst/>
          </a:prstGeom>
          <a:noFill/>
        </p:spPr>
        <p:txBody>
          <a:bodyPr wrap="square" anchor="t" lIns="0" rIns="0" tIns="0" bIns="0">
            <a:spAutoFit/>
          </a:bodyPr>
          <a:lstStyle/>
          <a:p>
            <a:pPr algn="l">
              <a:lnSpc>
                <a:spcPct val="105000"/>
              </a:lnSpc>
              <a:spcAft>
                <a:spcPts val="0"/>
              </a:spcAft>
            </a:pPr>
            <a:r>
              <a:rPr sz="1150" b="1">
                <a:solidFill>
                  <a:srgbClr val="E9EDF7"/>
                </a:solidFill>
                <a:latin typeface="Segoe UI Semibold"/>
              </a:rPr>
              <a:t>Both sides are paid in the same currency</a:t>
            </a:r>
          </a:p>
        </p:txBody>
      </p:sp>
      <p:sp>
        <p:nvSpPr>
          <p:cNvPr id="15" name="TextBox 14"/>
          <p:cNvSpPr txBox="1"/>
          <p:nvPr/>
        </p:nvSpPr>
        <p:spPr>
          <a:xfrm>
            <a:off x="4454042" y="4654296"/>
            <a:ext cx="3283610" cy="932688"/>
          </a:xfrm>
          <a:prstGeom prst="rect">
            <a:avLst/>
          </a:prstGeom>
          <a:noFill/>
        </p:spPr>
        <p:txBody>
          <a:bodyPr wrap="square" anchor="t" lIns="0" rIns="0" tIns="0" bIns="0">
            <a:spAutoFit/>
          </a:bodyPr>
          <a:lstStyle/>
          <a:p>
            <a:pPr algn="l">
              <a:lnSpc>
                <a:spcPct val="122000"/>
              </a:lnSpc>
              <a:spcAft>
                <a:spcPts val="0"/>
              </a:spcAft>
            </a:pPr>
            <a:r>
              <a:rPr sz="900" b="0">
                <a:solidFill>
                  <a:srgbClr val="8B95B3"/>
                </a:solidFill>
                <a:latin typeface="Segoe UI"/>
              </a:rPr>
              <a:t>A student processes a research dataset overnight using credits their own phone earned while charging. A phone owner turns eight dead hours into something spendable. Where renting a GPU costs real money and a phone is already in every pocket, that swap matters.</a:t>
            </a:r>
          </a:p>
        </p:txBody>
      </p:sp>
      <p:sp>
        <p:nvSpPr>
          <p:cNvPr id="16" name="Rounded Rectangle 15"/>
          <p:cNvSpPr/>
          <p:nvPr/>
        </p:nvSpPr>
        <p:spPr>
          <a:xfrm>
            <a:off x="8112556" y="3794760"/>
            <a:ext cx="3576218" cy="2148840"/>
          </a:xfrm>
          <a:prstGeom prst="roundRect">
            <a:avLst>
              <a:gd name="adj" fmla="val 4500"/>
            </a:avLst>
          </a:prstGeom>
          <a:solidFill>
            <a:srgbClr val="111828"/>
          </a:solidFill>
          <a:ln w="9525">
            <a:solidFill>
              <a:srgbClr val="2630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258860" y="3941064"/>
            <a:ext cx="3283610" cy="164592"/>
          </a:xfrm>
          <a:prstGeom prst="rect">
            <a:avLst/>
          </a:prstGeom>
          <a:noFill/>
        </p:spPr>
        <p:txBody>
          <a:bodyPr wrap="square" anchor="t" lIns="0" rIns="0" tIns="0" bIns="0">
            <a:spAutoFit/>
          </a:bodyPr>
          <a:lstStyle/>
          <a:p>
            <a:pPr algn="l">
              <a:spcAft>
                <a:spcPts val="0"/>
              </a:spcAft>
            </a:pPr>
            <a:r>
              <a:rPr sz="750" b="0" spc="130">
                <a:solidFill>
                  <a:srgbClr val="8B95B3"/>
                </a:solidFill>
                <a:latin typeface="Consolas"/>
              </a:rPr>
              <a:t>TEAM  ← REPLACE THESE</a:t>
            </a:r>
          </a:p>
        </p:txBody>
      </p:sp>
      <p:sp>
        <p:nvSpPr>
          <p:cNvPr id="18" name="TextBox 17"/>
          <p:cNvSpPr txBox="1"/>
          <p:nvPr/>
        </p:nvSpPr>
        <p:spPr>
          <a:xfrm>
            <a:off x="8258860" y="4178808"/>
            <a:ext cx="3283610" cy="219456"/>
          </a:xfrm>
          <a:prstGeom prst="rect">
            <a:avLst/>
          </a:prstGeom>
          <a:noFill/>
        </p:spPr>
        <p:txBody>
          <a:bodyPr wrap="square" anchor="t" lIns="0" rIns="0" tIns="0" bIns="0">
            <a:spAutoFit/>
          </a:bodyPr>
          <a:lstStyle/>
          <a:p>
            <a:pPr algn="l">
              <a:lnSpc>
                <a:spcPct val="105000"/>
              </a:lnSpc>
              <a:spcAft>
                <a:spcPts val="0"/>
              </a:spcAft>
            </a:pPr>
            <a:r>
              <a:rPr sz="1150" b="1">
                <a:solidFill>
                  <a:srgbClr val="E9EDF7"/>
                </a:solidFill>
                <a:latin typeface="Segoe UI Semibold"/>
              </a:rPr>
              <a:t>Who is building it</a:t>
            </a:r>
          </a:p>
        </p:txBody>
      </p:sp>
      <p:sp>
        <p:nvSpPr>
          <p:cNvPr id="19" name="TextBox 18"/>
          <p:cNvSpPr txBox="1"/>
          <p:nvPr/>
        </p:nvSpPr>
        <p:spPr>
          <a:xfrm>
            <a:off x="8258860" y="4462272"/>
            <a:ext cx="3283610" cy="1335024"/>
          </a:xfrm>
          <a:prstGeom prst="rect">
            <a:avLst/>
          </a:prstGeom>
          <a:noFill/>
        </p:spPr>
        <p:txBody>
          <a:bodyPr wrap="square" anchor="t" lIns="0" rIns="0" tIns="0" bIns="0">
            <a:spAutoFit/>
          </a:bodyPr>
          <a:lstStyle/>
          <a:p>
            <a:pPr algn="l">
              <a:lnSpc>
                <a:spcPct val="120000"/>
              </a:lnSpc>
              <a:spcAft>
                <a:spcPts val="400"/>
              </a:spcAft>
            </a:pPr>
            <a:r>
              <a:rPr sz="900" b="0">
                <a:solidFill>
                  <a:srgbClr val="8B95B3"/>
                </a:solidFill>
                <a:latin typeface="Segoe UI"/>
              </a:rPr>
              <a:t>— [Name] — Android &amp; on-device AI: the app, the chips, the background service.</a:t>
            </a:r>
          </a:p>
          <a:p>
            <a:pPr algn="l">
              <a:lnSpc>
                <a:spcPct val="120000"/>
              </a:lnSpc>
              <a:spcAft>
                <a:spcPts val="400"/>
              </a:spcAft>
            </a:pPr>
            <a:r>
              <a:rPr sz="900" b="0">
                <a:solidFill>
                  <a:srgbClr val="8B95B3"/>
                </a:solidFill>
                <a:latin typeface="Segoe UI"/>
              </a:rPr>
              <a:t>— [Name] — Server &amp; distributed systems: scheduling, holds, credits.</a:t>
            </a:r>
          </a:p>
          <a:p>
            <a:pPr algn="l">
              <a:lnSpc>
                <a:spcPct val="120000"/>
              </a:lnSpc>
              <a:spcAft>
                <a:spcPts val="400"/>
              </a:spcAft>
            </a:pPr>
            <a:r>
              <a:rPr sz="900" b="0">
                <a:solidFill>
                  <a:srgbClr val="8B95B3"/>
                </a:solidFill>
                <a:latin typeface="Segoe UI"/>
              </a:rPr>
              <a:t>— [Name] — Product &amp; interface: the screens, the live view, the demo.</a:t>
            </a:r>
          </a:p>
          <a:p>
            <a:pPr algn="l">
              <a:lnSpc>
                <a:spcPct val="120000"/>
              </a:lnSpc>
              <a:spcAft>
                <a:spcPts val="400"/>
              </a:spcAft>
            </a:pPr>
            <a:r>
              <a:rPr sz="900" b="0">
                <a:solidFill>
                  <a:srgbClr val="8B95B3"/>
                </a:solidFill>
                <a:latin typeface="Segoe UI"/>
              </a:rPr>
              <a:t>— [Name] — Infrastructure &amp; testing: databases, break-tests, rehearsal.</a:t>
            </a:r>
          </a:p>
        </p:txBody>
      </p:sp>
      <p:sp>
        <p:nvSpPr>
          <p:cNvPr id="20" name="Rectangle 19"/>
          <p:cNvSpPr/>
          <p:nvPr/>
        </p:nvSpPr>
        <p:spPr>
          <a:xfrm>
            <a:off x="502920" y="6126480"/>
            <a:ext cx="11185855" cy="12801"/>
          </a:xfrm>
          <a:prstGeom prst="rect">
            <a:avLst/>
          </a:prstGeom>
          <a:solidFill>
            <a:srgbClr val="26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6327648"/>
            <a:ext cx="11185855" cy="274320"/>
          </a:xfrm>
          <a:prstGeom prst="rect">
            <a:avLst/>
          </a:prstGeom>
          <a:noFill/>
        </p:spPr>
        <p:txBody>
          <a:bodyPr wrap="square" anchor="t" lIns="0" rIns="0" tIns="0" bIns="0">
            <a:spAutoFit/>
          </a:bodyPr>
          <a:lstStyle/>
          <a:p>
            <a:pPr algn="l">
              <a:spcAft>
                <a:spcPts val="0"/>
              </a:spcAft>
            </a:pPr>
            <a:r>
              <a:rPr sz="850" b="0">
                <a:solidFill>
                  <a:srgbClr val="8B95B3"/>
                </a:solidFill>
                <a:latin typeface="Consolas"/>
              </a:rPr>
              <a:t>NeuroMesh · renting out the AI chip in your pocket        GitHub: [repo link]        Demo video: [link]        Full technical write-up: README.md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